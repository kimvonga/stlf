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Roboto Thin"/>
      <p:regular r:id="rId18"/>
      <p:bold r:id="rId19"/>
      <p:italic r:id="rId20"/>
      <p:boldItalic r:id="rId21"/>
    </p:embeddedFont>
    <p:embeddedFont>
      <p:font typeface="Roboto"/>
      <p:regular r:id="rId22"/>
      <p:bold r:id="rId23"/>
      <p:italic r:id="rId24"/>
      <p:boldItalic r:id="rId25"/>
    </p:embeddedFont>
    <p:embeddedFont>
      <p:font typeface="Roboto Medium"/>
      <p:regular r:id="rId26"/>
      <p:bold r:id="rId27"/>
      <p:italic r:id="rId28"/>
      <p:boldItalic r:id="rId29"/>
    </p:embeddedFont>
    <p:embeddedFont>
      <p:font typeface="Roboto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jCQLbFYyDsx3aPKgZQ3e4ZLhJG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B1E8DA-6645-4BD3-B925-3926E8FE1284}">
  <a:tblStyle styleId="{4BB1E8DA-6645-4BD3-B925-3926E8FE128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Thin-italic.fntdata"/><Relationship Id="rId22" Type="http://schemas.openxmlformats.org/officeDocument/2006/relationships/font" Target="fonts/Roboto-regular.fntdata"/><Relationship Id="rId21" Type="http://schemas.openxmlformats.org/officeDocument/2006/relationships/font" Target="fonts/RobotoThin-boldItalic.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edium-regular.fntdata"/><Relationship Id="rId25" Type="http://schemas.openxmlformats.org/officeDocument/2006/relationships/font" Target="fonts/Roboto-boldItalic.fntdata"/><Relationship Id="rId28" Type="http://schemas.openxmlformats.org/officeDocument/2006/relationships/font" Target="fonts/RobotoMedium-italic.fntdata"/><Relationship Id="rId27" Type="http://schemas.openxmlformats.org/officeDocument/2006/relationships/font" Target="fonts/Roboto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edium-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fntdata"/><Relationship Id="rId30" Type="http://schemas.openxmlformats.org/officeDocument/2006/relationships/font" Target="fonts/RobotoMono-regular.fntdata"/><Relationship Id="rId11" Type="http://schemas.openxmlformats.org/officeDocument/2006/relationships/slide" Target="slides/slide6.xml"/><Relationship Id="rId33" Type="http://schemas.openxmlformats.org/officeDocument/2006/relationships/font" Target="fonts/RobotoMono-boldItalic.fntdata"/><Relationship Id="rId10" Type="http://schemas.openxmlformats.org/officeDocument/2006/relationships/slide" Target="slides/slide5.xml"/><Relationship Id="rId32" Type="http://schemas.openxmlformats.org/officeDocument/2006/relationships/font" Target="fonts/RobotoMono-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Thin-bold.fntdata"/><Relationship Id="rId18" Type="http://schemas.openxmlformats.org/officeDocument/2006/relationships/font" Target="fonts/RobotoThin-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Today we will be talking about some work that we have done to construct a dataset that can be used to train short-term load forecasting models</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f1c73cee9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f1c73cee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Short-term load forecasting are important for managing power grids in real time.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Because energy on power grids need to be consumed as they are generated, operators must manage supply with demand in real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If operators do not call to generate enough energy, then that can lead to a blackout. Conversely, over generating energy leads to waste and, counterintuitively, can lead to blackouts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should a blackout occur, then that can lead to billions in damages due to disruptions.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f1c73cee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f1c73ce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one important factor when it comes to estimating real-time demand is weather.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past 6 years, the US has experienced 4 major blackouts that were a result of a failure to forecast demand.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These events totalled an estimated 90 - 200 B dollars in damages, over 600 deaths, and left 9.7 M customers without power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cf1c73cee9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cf1c73cee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So, the goal for our project is to construct a dataset that could be used to train short-term forecasting 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imagine that the users of our dataset include grid operators and data scientist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While our stakeholders would include businesses, power plants, and everyday consumers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cf3e47c146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cf3e47c146_1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Now we will discuss some of the key issues and limitations of our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there can be discrepancies between forecasted weather and actual observed weather. Weather forecasts are generated using numerical prediction models, which estimate future atmospheric conditions. Because the atmosphere is very complex, forecasts may not always perfectly match the actual weather, especially during extreme events like hurricanes, heat waves, or winter storms.</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Second, different weather services may use different forecasting models. For example, the National Weather Service uses models such as GFS and HRRR to generate forecasts. However, other platforms like Open-Meteo may combine outputs from multiple models. Because these models have different assumptions and resolutions, their predictions can sometimes vary slightly.</a:t>
            </a:r>
            <a:endParaRPr/>
          </a:p>
        </p:txBody>
      </p:sp>
      <p:sp>
        <p:nvSpPr>
          <p:cNvPr id="251" name="Google Shape;2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cf834df0a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Another limitation is measurement uncertainty in weather data. Weather observations are collected using instruments such as thermometers, radar systems, and rain gauges. While these instruments are highly reliable, they still have small margins of error, which can introduce minor inconsistencies in the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Finally, our dataset also uses electricity demand data from the U.S. Energy Information Administration. In some cases, energy demand and outage statistics may be revised after events when more accurate reports become available.</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Overall, these limitations introduce some uncertainty, but the dataset still provides valuable information for studying how weather conditions affect electricity demand and for training short-term load forecasting models.</a:t>
            </a:r>
            <a:endParaRPr/>
          </a:p>
        </p:txBody>
      </p:sp>
      <p:sp>
        <p:nvSpPr>
          <p:cNvPr id="258" name="Google Shape;258;g3cf834df0a6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open-meteo.com" TargetMode="External"/><Relationship Id="rId4" Type="http://schemas.openxmlformats.org/officeDocument/2006/relationships/hyperlink" Target="https://www.census.gov/geographies/reference-files/time-series/geo/gazetteer-files.html" TargetMode="External"/><Relationship Id="rId5" Type="http://schemas.openxmlformats.org/officeDocument/2006/relationships/hyperlink" Target="https://www.google.com/url?q=https%3A%2F%2Fwww.census.gov%2Fdata%2Ftables%2Ftime-series%2Fdemo%2Fpopest%2F2020s-counties-total.html" TargetMode="External"/><Relationship Id="rId6" Type="http://schemas.openxmlformats.org/officeDocument/2006/relationships/hyperlink" Target="https://www.eia.gov/opendata/browser/" TargetMode="External"/><Relationship Id="rId7" Type="http://schemas.openxmlformats.org/officeDocument/2006/relationships/hyperlink" Target="https://www.weather.gov"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weather.gov"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762000" y="1214350"/>
            <a:ext cx="10668000" cy="23877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Constructing a Dataset to Train Short-Term Load Forecasting Models</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Andy Vong, Shubh Patel, Nayina Elsa Aniyan, and Krisi Doshi</a:t>
            </a:r>
            <a:endParaRPr/>
          </a:p>
        </p:txBody>
      </p:sp>
      <p:sp>
        <p:nvSpPr>
          <p:cNvPr id="86" name="Google Shape;86;p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cf1c73cee9_0_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Motivation: Short-Term Load Forecasting Reduces Waste and Minimizes Overload</a:t>
            </a:r>
            <a:endParaRPr/>
          </a:p>
        </p:txBody>
      </p:sp>
      <p:sp>
        <p:nvSpPr>
          <p:cNvPr id="92" name="Google Shape;92;g3cf1c73cee9_0_5"/>
          <p:cNvSpPr txBox="1"/>
          <p:nvPr>
            <p:ph idx="1" type="body"/>
          </p:nvPr>
        </p:nvSpPr>
        <p:spPr>
          <a:xfrm>
            <a:off x="838200" y="1825625"/>
            <a:ext cx="10515600" cy="23319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Energy grid operators must avoid supply deficit and supply surplus</a:t>
            </a:r>
            <a:endParaRPr/>
          </a:p>
          <a:p>
            <a:pPr indent="-342900" lvl="1" marL="914400" rtl="0" algn="l">
              <a:spcBef>
                <a:spcPts val="0"/>
              </a:spcBef>
              <a:spcAft>
                <a:spcPts val="0"/>
              </a:spcAft>
              <a:buSzPts val="1800"/>
              <a:buChar char="-"/>
            </a:pPr>
            <a:r>
              <a:rPr lang="en-US"/>
              <a:t>Supply deficit can lead to blackouts</a:t>
            </a:r>
            <a:endParaRPr/>
          </a:p>
          <a:p>
            <a:pPr indent="-342900" lvl="1" marL="914400" rtl="0" algn="l">
              <a:spcBef>
                <a:spcPts val="0"/>
              </a:spcBef>
              <a:spcAft>
                <a:spcPts val="0"/>
              </a:spcAft>
              <a:buSzPts val="1800"/>
              <a:buChar char="-"/>
            </a:pPr>
            <a:r>
              <a:rPr lang="en-US"/>
              <a:t>Supply surplus leads to waste and can lead to blackouts and equipment damage</a:t>
            </a:r>
            <a:endParaRPr/>
          </a:p>
          <a:p>
            <a:pPr indent="-342900" lvl="1" marL="914400" rtl="0" algn="l">
              <a:spcBef>
                <a:spcPts val="0"/>
              </a:spcBef>
              <a:spcAft>
                <a:spcPts val="0"/>
              </a:spcAft>
              <a:buClr>
                <a:srgbClr val="FF0000"/>
              </a:buClr>
              <a:buSzPts val="1800"/>
              <a:buChar char="-"/>
            </a:pPr>
            <a:r>
              <a:rPr b="1" lang="en-US">
                <a:solidFill>
                  <a:srgbClr val="FF0000"/>
                </a:solidFill>
              </a:rPr>
              <a:t>Blackouts can cause billions in damages due to disruptions</a:t>
            </a:r>
            <a:endParaRPr b="1">
              <a:solidFill>
                <a:srgbClr val="FF0000"/>
              </a:solidFill>
            </a:endParaRPr>
          </a:p>
          <a:p>
            <a:pPr indent="-342900" lvl="0" marL="457200" rtl="0" algn="l">
              <a:spcBef>
                <a:spcPts val="0"/>
              </a:spcBef>
              <a:spcAft>
                <a:spcPts val="0"/>
              </a:spcAft>
              <a:buSzPts val="1800"/>
              <a:buChar char="-"/>
            </a:pPr>
            <a:r>
              <a:rPr lang="en-US"/>
              <a:t>Short-term load forecasting (STLF) manages real-time demand</a:t>
            </a:r>
            <a:endParaRPr/>
          </a:p>
        </p:txBody>
      </p:sp>
      <p:pic>
        <p:nvPicPr>
          <p:cNvPr id="93" name="Google Shape;93;g3cf1c73cee9_0_5"/>
          <p:cNvPicPr preferRelativeResize="0"/>
          <p:nvPr/>
        </p:nvPicPr>
        <p:blipFill>
          <a:blip r:embed="rId3">
            <a:alphaModFix/>
          </a:blip>
          <a:stretch>
            <a:fillRect/>
          </a:stretch>
        </p:blipFill>
        <p:spPr>
          <a:xfrm>
            <a:off x="4383038" y="4157625"/>
            <a:ext cx="3425925" cy="1988375"/>
          </a:xfrm>
          <a:prstGeom prst="rect">
            <a:avLst/>
          </a:prstGeom>
          <a:noFill/>
          <a:ln>
            <a:noFill/>
          </a:ln>
        </p:spPr>
      </p:pic>
      <p:sp>
        <p:nvSpPr>
          <p:cNvPr id="94" name="Google Shape;94;g3cf1c73cee9_0_5"/>
          <p:cNvSpPr txBox="1"/>
          <p:nvPr/>
        </p:nvSpPr>
        <p:spPr>
          <a:xfrm>
            <a:off x="7190575" y="4260850"/>
            <a:ext cx="3046200" cy="219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Calibri"/>
                <a:ea typeface="Calibri"/>
                <a:cs typeface="Calibri"/>
                <a:sym typeface="Calibri"/>
              </a:rPr>
              <a:t>Supply Surplus Risks:</a:t>
            </a:r>
            <a:endParaRPr sz="2200">
              <a:solidFill>
                <a:schemeClr val="dk1"/>
              </a:solidFill>
              <a:latin typeface="Calibri"/>
              <a:ea typeface="Calibri"/>
              <a:cs typeface="Calibri"/>
              <a:sym typeface="Calibri"/>
            </a:endParaRPr>
          </a:p>
          <a:p>
            <a:pPr indent="-368300" lvl="0" marL="457200" rtl="0" algn="l">
              <a:spcBef>
                <a:spcPts val="0"/>
              </a:spcBef>
              <a:spcAft>
                <a:spcPts val="0"/>
              </a:spcAft>
              <a:buClr>
                <a:schemeClr val="dk1"/>
              </a:buClr>
              <a:buSzPts val="2200"/>
              <a:buFont typeface="Calibri"/>
              <a:buChar char="-"/>
            </a:pPr>
            <a:r>
              <a:rPr lang="en-US" sz="2200">
                <a:solidFill>
                  <a:schemeClr val="dk1"/>
                </a:solidFill>
                <a:latin typeface="Calibri"/>
                <a:ea typeface="Calibri"/>
                <a:cs typeface="Calibri"/>
                <a:sym typeface="Calibri"/>
              </a:rPr>
              <a:t>Wasted Energy</a:t>
            </a:r>
            <a:endParaRPr sz="2200">
              <a:solidFill>
                <a:schemeClr val="dk1"/>
              </a:solidFill>
              <a:latin typeface="Calibri"/>
              <a:ea typeface="Calibri"/>
              <a:cs typeface="Calibri"/>
              <a:sym typeface="Calibri"/>
            </a:endParaRPr>
          </a:p>
          <a:p>
            <a:pPr indent="-368300" lvl="0" marL="457200" rtl="0" algn="l">
              <a:spcBef>
                <a:spcPts val="0"/>
              </a:spcBef>
              <a:spcAft>
                <a:spcPts val="0"/>
              </a:spcAft>
              <a:buClr>
                <a:schemeClr val="dk1"/>
              </a:buClr>
              <a:buSzPts val="2200"/>
              <a:buFont typeface="Calibri"/>
              <a:buChar char="-"/>
            </a:pPr>
            <a:r>
              <a:rPr lang="en-US" sz="2200">
                <a:solidFill>
                  <a:schemeClr val="dk1"/>
                </a:solidFill>
                <a:latin typeface="Calibri"/>
                <a:ea typeface="Calibri"/>
                <a:cs typeface="Calibri"/>
                <a:sym typeface="Calibri"/>
              </a:rPr>
              <a:t>Equipment Damage</a:t>
            </a:r>
            <a:endParaRPr sz="2200">
              <a:solidFill>
                <a:schemeClr val="dk1"/>
              </a:solidFill>
              <a:latin typeface="Calibri"/>
              <a:ea typeface="Calibri"/>
              <a:cs typeface="Calibri"/>
              <a:sym typeface="Calibri"/>
            </a:endParaRPr>
          </a:p>
          <a:p>
            <a:pPr indent="-368300" lvl="0" marL="457200" rtl="0" algn="l">
              <a:spcBef>
                <a:spcPts val="0"/>
              </a:spcBef>
              <a:spcAft>
                <a:spcPts val="0"/>
              </a:spcAft>
              <a:buClr>
                <a:schemeClr val="dk1"/>
              </a:buClr>
              <a:buSzPts val="2200"/>
              <a:buFont typeface="Calibri"/>
              <a:buChar char="-"/>
            </a:pPr>
            <a:r>
              <a:rPr lang="en-US" sz="2200">
                <a:solidFill>
                  <a:schemeClr val="dk1"/>
                </a:solidFill>
                <a:latin typeface="Calibri"/>
                <a:ea typeface="Calibri"/>
                <a:cs typeface="Calibri"/>
                <a:sym typeface="Calibri"/>
              </a:rPr>
              <a:t>Blackouts</a:t>
            </a:r>
            <a:endParaRPr sz="2200">
              <a:solidFill>
                <a:schemeClr val="dk1"/>
              </a:solidFill>
              <a:latin typeface="Calibri"/>
              <a:ea typeface="Calibri"/>
              <a:cs typeface="Calibri"/>
              <a:sym typeface="Calibri"/>
            </a:endParaRPr>
          </a:p>
        </p:txBody>
      </p:sp>
      <p:sp>
        <p:nvSpPr>
          <p:cNvPr id="95" name="Google Shape;95;g3cf1c73cee9_0_5"/>
          <p:cNvSpPr txBox="1"/>
          <p:nvPr/>
        </p:nvSpPr>
        <p:spPr>
          <a:xfrm>
            <a:off x="2600325" y="4260850"/>
            <a:ext cx="2526600" cy="219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Calibri"/>
                <a:ea typeface="Calibri"/>
                <a:cs typeface="Calibri"/>
                <a:sym typeface="Calibri"/>
              </a:rPr>
              <a:t>Supply Deficit Risks:</a:t>
            </a:r>
            <a:endParaRPr sz="2200">
              <a:solidFill>
                <a:schemeClr val="dk1"/>
              </a:solidFill>
              <a:latin typeface="Calibri"/>
              <a:ea typeface="Calibri"/>
              <a:cs typeface="Calibri"/>
              <a:sym typeface="Calibri"/>
            </a:endParaRPr>
          </a:p>
          <a:p>
            <a:pPr indent="-368300" lvl="0" marL="457200" rtl="0" algn="l">
              <a:spcBef>
                <a:spcPts val="0"/>
              </a:spcBef>
              <a:spcAft>
                <a:spcPts val="0"/>
              </a:spcAft>
              <a:buClr>
                <a:schemeClr val="dk1"/>
              </a:buClr>
              <a:buSzPts val="2200"/>
              <a:buFont typeface="Calibri"/>
              <a:buChar char="-"/>
            </a:pPr>
            <a:r>
              <a:rPr lang="en-US" sz="2200">
                <a:solidFill>
                  <a:schemeClr val="dk1"/>
                </a:solidFill>
                <a:latin typeface="Calibri"/>
                <a:ea typeface="Calibri"/>
                <a:cs typeface="Calibri"/>
                <a:sym typeface="Calibri"/>
              </a:rPr>
              <a:t>Blackouts</a:t>
            </a:r>
            <a:endParaRPr sz="22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200">
              <a:solidFill>
                <a:schemeClr val="dk1"/>
              </a:solidFill>
              <a:latin typeface="Calibri"/>
              <a:ea typeface="Calibri"/>
              <a:cs typeface="Calibri"/>
              <a:sym typeface="Calibri"/>
            </a:endParaRPr>
          </a:p>
        </p:txBody>
      </p:sp>
      <p:sp>
        <p:nvSpPr>
          <p:cNvPr id="96" name="Google Shape;96;g3cf1c73cee9_0_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cf1c73cee9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Motivation: STLF Can Underestimate Demand for Severe Weather Events</a:t>
            </a:r>
            <a:endParaRPr/>
          </a:p>
        </p:txBody>
      </p:sp>
      <p:sp>
        <p:nvSpPr>
          <p:cNvPr id="102" name="Google Shape;102;g3cf1c73cee9_0_0"/>
          <p:cNvSpPr txBox="1"/>
          <p:nvPr>
            <p:ph idx="1" type="body"/>
          </p:nvPr>
        </p:nvSpPr>
        <p:spPr>
          <a:xfrm>
            <a:off x="838200" y="1828625"/>
            <a:ext cx="10515600" cy="22338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Since 2020, U.S. has seen 4 blackouts due to severe weather events</a:t>
            </a:r>
            <a:endParaRPr/>
          </a:p>
          <a:p>
            <a:pPr indent="-342900" lvl="1" marL="914400" rtl="0" algn="l">
              <a:spcBef>
                <a:spcPts val="0"/>
              </a:spcBef>
              <a:spcAft>
                <a:spcPts val="0"/>
              </a:spcAft>
              <a:buClr>
                <a:srgbClr val="FF0000"/>
              </a:buClr>
              <a:buSzPts val="1800"/>
              <a:buChar char="-"/>
            </a:pPr>
            <a:r>
              <a:rPr b="1" lang="en-US">
                <a:solidFill>
                  <a:srgbClr val="FF0000"/>
                </a:solidFill>
              </a:rPr>
              <a:t>$</a:t>
            </a:r>
            <a:r>
              <a:rPr b="1" lang="en-US">
                <a:solidFill>
                  <a:srgbClr val="FF0000"/>
                </a:solidFill>
              </a:rPr>
              <a:t>8</a:t>
            </a:r>
            <a:r>
              <a:rPr b="1" lang="en-US">
                <a:solidFill>
                  <a:srgbClr val="FF0000"/>
                </a:solidFill>
              </a:rPr>
              <a:t>9.8 B - $204.8 B cost in damages</a:t>
            </a:r>
            <a:endParaRPr b="1">
              <a:solidFill>
                <a:srgbClr val="FF0000"/>
              </a:solidFill>
            </a:endParaRPr>
          </a:p>
          <a:p>
            <a:pPr indent="-342900" lvl="1" marL="914400" rtl="0" algn="l">
              <a:spcBef>
                <a:spcPts val="0"/>
              </a:spcBef>
              <a:spcAft>
                <a:spcPts val="0"/>
              </a:spcAft>
              <a:buClr>
                <a:srgbClr val="FF0000"/>
              </a:buClr>
              <a:buSzPts val="1800"/>
              <a:buChar char="-"/>
            </a:pPr>
            <a:r>
              <a:rPr b="1" lang="en-US">
                <a:solidFill>
                  <a:srgbClr val="FF0000"/>
                </a:solidFill>
              </a:rPr>
              <a:t>600+ deaths</a:t>
            </a:r>
            <a:endParaRPr b="1">
              <a:solidFill>
                <a:srgbClr val="FF0000"/>
              </a:solidFill>
            </a:endParaRPr>
          </a:p>
          <a:p>
            <a:pPr indent="-342900" lvl="1" marL="914400" rtl="0" algn="l">
              <a:spcBef>
                <a:spcPts val="0"/>
              </a:spcBef>
              <a:spcAft>
                <a:spcPts val="0"/>
              </a:spcAft>
              <a:buClr>
                <a:srgbClr val="FF0000"/>
              </a:buClr>
              <a:buSzPts val="1800"/>
              <a:buChar char="-"/>
            </a:pPr>
            <a:r>
              <a:rPr b="1" lang="en-US">
                <a:solidFill>
                  <a:srgbClr val="FF0000"/>
                </a:solidFill>
              </a:rPr>
              <a:t>9.7 M without power</a:t>
            </a:r>
            <a:endParaRPr b="1">
              <a:solidFill>
                <a:srgbClr val="FF0000"/>
              </a:solidFill>
            </a:endParaRPr>
          </a:p>
          <a:p>
            <a:pPr indent="-342900" lvl="1" marL="914400" rtl="0" algn="l">
              <a:spcBef>
                <a:spcPts val="0"/>
              </a:spcBef>
              <a:spcAft>
                <a:spcPts val="0"/>
              </a:spcAft>
              <a:buSzPts val="1800"/>
              <a:buChar char="-"/>
            </a:pPr>
            <a:r>
              <a:rPr lang="en-US"/>
              <a:t>All due to poor energy demand forecast</a:t>
            </a:r>
            <a:endParaRPr sz="1900"/>
          </a:p>
          <a:p>
            <a:pPr indent="-349250" lvl="2" marL="1371600" rtl="0" algn="l">
              <a:spcBef>
                <a:spcPts val="0"/>
              </a:spcBef>
              <a:spcAft>
                <a:spcPts val="0"/>
              </a:spcAft>
              <a:buClr>
                <a:srgbClr val="FF0000"/>
              </a:buClr>
              <a:buSzPts val="1900"/>
              <a:buChar char="-"/>
            </a:pPr>
            <a:r>
              <a:rPr b="1" lang="en-US" sz="1900">
                <a:solidFill>
                  <a:srgbClr val="FF0000"/>
                </a:solidFill>
              </a:rPr>
              <a:t>Could have been avoided!</a:t>
            </a:r>
            <a:endParaRPr b="1" sz="1900">
              <a:solidFill>
                <a:srgbClr val="FF0000"/>
              </a:solidFill>
            </a:endParaRPr>
          </a:p>
        </p:txBody>
      </p:sp>
      <p:grpSp>
        <p:nvGrpSpPr>
          <p:cNvPr id="103" name="Google Shape;103;g3cf1c73cee9_0_0"/>
          <p:cNvGrpSpPr/>
          <p:nvPr/>
        </p:nvGrpSpPr>
        <p:grpSpPr>
          <a:xfrm>
            <a:off x="50" y="4062460"/>
            <a:ext cx="12191924" cy="2795604"/>
            <a:chOff x="50" y="4062370"/>
            <a:chExt cx="12191924" cy="3463335"/>
          </a:xfrm>
        </p:grpSpPr>
        <p:grpSp>
          <p:nvGrpSpPr>
            <p:cNvPr id="104" name="Google Shape;104;g3cf1c73cee9_0_0"/>
            <p:cNvGrpSpPr/>
            <p:nvPr/>
          </p:nvGrpSpPr>
          <p:grpSpPr>
            <a:xfrm>
              <a:off x="9144038" y="4062415"/>
              <a:ext cx="3047936" cy="3463289"/>
              <a:chOff x="0" y="2295575"/>
              <a:chExt cx="2286009" cy="2597532"/>
            </a:xfrm>
          </p:grpSpPr>
          <p:sp>
            <p:nvSpPr>
              <p:cNvPr id="105" name="Google Shape;105;g3cf1c73cee9_0_0"/>
              <p:cNvSpPr/>
              <p:nvPr/>
            </p:nvSpPr>
            <p:spPr>
              <a:xfrm>
                <a:off x="9" y="2777507"/>
                <a:ext cx="2286000" cy="21156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 name="Google Shape;106;g3cf1c73cee9_0_0"/>
              <p:cNvSpPr/>
              <p:nvPr/>
            </p:nvSpPr>
            <p:spPr>
              <a:xfrm>
                <a:off x="0" y="2295575"/>
                <a:ext cx="2286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7" name="Google Shape;107;g3cf1c73cee9_0_0"/>
            <p:cNvSpPr txBox="1"/>
            <p:nvPr/>
          </p:nvSpPr>
          <p:spPr>
            <a:xfrm>
              <a:off x="9432419" y="4122696"/>
              <a:ext cx="1161600" cy="347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600">
                  <a:solidFill>
                    <a:srgbClr val="5E5E5E"/>
                  </a:solidFill>
                  <a:latin typeface="Roboto"/>
                  <a:ea typeface="Roboto"/>
                  <a:cs typeface="Roboto"/>
                  <a:sym typeface="Roboto"/>
                </a:rPr>
                <a:t>July 2024</a:t>
              </a:r>
              <a:endParaRPr sz="1600">
                <a:solidFill>
                  <a:srgbClr val="5E5E5E"/>
                </a:solidFill>
                <a:latin typeface="Roboto"/>
                <a:ea typeface="Roboto"/>
                <a:cs typeface="Roboto"/>
                <a:sym typeface="Roboto"/>
              </a:endParaRPr>
            </a:p>
          </p:txBody>
        </p:sp>
        <p:sp>
          <p:nvSpPr>
            <p:cNvPr id="108" name="Google Shape;108;g3cf1c73cee9_0_0"/>
            <p:cNvSpPr txBox="1"/>
            <p:nvPr/>
          </p:nvSpPr>
          <p:spPr>
            <a:xfrm>
              <a:off x="9432425" y="4785294"/>
              <a:ext cx="2471100" cy="665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5E5E5E"/>
                  </a:solidFill>
                  <a:latin typeface="Roboto"/>
                  <a:ea typeface="Roboto"/>
                  <a:cs typeface="Roboto"/>
                  <a:sym typeface="Roboto"/>
                </a:rPr>
                <a:t>Hurricane Beryl and Houston Heat Wave</a:t>
              </a:r>
              <a:endParaRPr b="1" sz="1600">
                <a:solidFill>
                  <a:srgbClr val="5E5E5E"/>
                </a:solidFill>
                <a:latin typeface="Roboto"/>
                <a:ea typeface="Roboto"/>
                <a:cs typeface="Roboto"/>
                <a:sym typeface="Roboto"/>
              </a:endParaRPr>
            </a:p>
          </p:txBody>
        </p:sp>
        <p:sp>
          <p:nvSpPr>
            <p:cNvPr id="109" name="Google Shape;109;g3cf1c73cee9_0_0"/>
            <p:cNvSpPr txBox="1"/>
            <p:nvPr/>
          </p:nvSpPr>
          <p:spPr>
            <a:xfrm>
              <a:off x="9432456" y="5529737"/>
              <a:ext cx="2471100" cy="1328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500">
                  <a:solidFill>
                    <a:srgbClr val="5E5E5E"/>
                  </a:solidFill>
                  <a:latin typeface="Roboto"/>
                  <a:ea typeface="Roboto"/>
                  <a:cs typeface="Roboto"/>
                  <a:sym typeface="Roboto"/>
                </a:rPr>
                <a:t>Failed to forecast demand following heat wave</a:t>
              </a:r>
              <a:br>
                <a:rPr lang="en-US" sz="1500">
                  <a:solidFill>
                    <a:srgbClr val="5E5E5E"/>
                  </a:solidFill>
                  <a:latin typeface="Roboto"/>
                  <a:ea typeface="Roboto"/>
                  <a:cs typeface="Roboto"/>
                  <a:sym typeface="Roboto"/>
                </a:rPr>
              </a:br>
              <a:r>
                <a:rPr lang="en-US" sz="1500">
                  <a:solidFill>
                    <a:srgbClr val="5E5E5E"/>
                  </a:solidFill>
                  <a:latin typeface="Roboto"/>
                  <a:ea typeface="Roboto"/>
                  <a:cs typeface="Roboto"/>
                  <a:sym typeface="Roboto"/>
                </a:rPr>
                <a:t>$3 B in damages</a:t>
              </a:r>
              <a:br>
                <a:rPr lang="en-US" sz="1500">
                  <a:solidFill>
                    <a:srgbClr val="5E5E5E"/>
                  </a:solidFill>
                  <a:latin typeface="Roboto"/>
                  <a:ea typeface="Roboto"/>
                  <a:cs typeface="Roboto"/>
                  <a:sym typeface="Roboto"/>
                </a:rPr>
              </a:br>
              <a:r>
                <a:rPr lang="en-US" sz="1500">
                  <a:solidFill>
                    <a:srgbClr val="5E5E5E"/>
                  </a:solidFill>
                  <a:latin typeface="Roboto"/>
                  <a:ea typeface="Roboto"/>
                  <a:cs typeface="Roboto"/>
                  <a:sym typeface="Roboto"/>
                </a:rPr>
                <a:t>2.7 million without power</a:t>
              </a:r>
              <a:br>
                <a:rPr lang="en-US" sz="1500">
                  <a:solidFill>
                    <a:srgbClr val="5E5E5E"/>
                  </a:solidFill>
                  <a:latin typeface="Roboto"/>
                  <a:ea typeface="Roboto"/>
                  <a:cs typeface="Roboto"/>
                  <a:sym typeface="Roboto"/>
                </a:rPr>
              </a:br>
              <a:r>
                <a:rPr lang="en-US" sz="1500">
                  <a:solidFill>
                    <a:srgbClr val="5E5E5E"/>
                  </a:solidFill>
                  <a:latin typeface="Roboto"/>
                  <a:ea typeface="Roboto"/>
                  <a:cs typeface="Roboto"/>
                  <a:sym typeface="Roboto"/>
                </a:rPr>
                <a:t>36 deaths</a:t>
              </a:r>
              <a:endParaRPr sz="1500">
                <a:solidFill>
                  <a:srgbClr val="5E5E5E"/>
                </a:solidFill>
                <a:latin typeface="Roboto"/>
                <a:ea typeface="Roboto"/>
                <a:cs typeface="Roboto"/>
                <a:sym typeface="Roboto"/>
              </a:endParaRPr>
            </a:p>
          </p:txBody>
        </p:sp>
        <p:grpSp>
          <p:nvGrpSpPr>
            <p:cNvPr id="110" name="Google Shape;110;g3cf1c73cee9_0_0"/>
            <p:cNvGrpSpPr/>
            <p:nvPr/>
          </p:nvGrpSpPr>
          <p:grpSpPr>
            <a:xfrm>
              <a:off x="6096050" y="4062370"/>
              <a:ext cx="3047924" cy="3463107"/>
              <a:chOff x="0" y="2295575"/>
              <a:chExt cx="2286000" cy="2847950"/>
            </a:xfrm>
          </p:grpSpPr>
          <p:sp>
            <p:nvSpPr>
              <p:cNvPr id="111" name="Google Shape;111;g3cf1c73cee9_0_0"/>
              <p:cNvSpPr/>
              <p:nvPr/>
            </p:nvSpPr>
            <p:spPr>
              <a:xfrm>
                <a:off x="0" y="2823925"/>
                <a:ext cx="2286000" cy="23196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 name="Google Shape;112;g3cf1c73cee9_0_0"/>
              <p:cNvSpPr/>
              <p:nvPr/>
            </p:nvSpPr>
            <p:spPr>
              <a:xfrm>
                <a:off x="0" y="2295575"/>
                <a:ext cx="2286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13" name="Google Shape;113;g3cf1c73cee9_0_0"/>
            <p:cNvSpPr txBox="1"/>
            <p:nvPr/>
          </p:nvSpPr>
          <p:spPr>
            <a:xfrm>
              <a:off x="6384419" y="4122696"/>
              <a:ext cx="2209500" cy="3165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600">
                  <a:solidFill>
                    <a:srgbClr val="5E5E5E"/>
                  </a:solidFill>
                  <a:latin typeface="Roboto"/>
                  <a:ea typeface="Roboto"/>
                  <a:cs typeface="Roboto"/>
                  <a:sym typeface="Roboto"/>
                </a:rPr>
                <a:t>December 2022</a:t>
              </a:r>
              <a:endParaRPr sz="1600">
                <a:solidFill>
                  <a:srgbClr val="5E5E5E"/>
                </a:solidFill>
                <a:latin typeface="Roboto"/>
                <a:ea typeface="Roboto"/>
                <a:cs typeface="Roboto"/>
                <a:sym typeface="Roboto"/>
              </a:endParaRPr>
            </a:p>
          </p:txBody>
        </p:sp>
        <p:sp>
          <p:nvSpPr>
            <p:cNvPr id="114" name="Google Shape;114;g3cf1c73cee9_0_0"/>
            <p:cNvSpPr txBox="1"/>
            <p:nvPr/>
          </p:nvSpPr>
          <p:spPr>
            <a:xfrm>
              <a:off x="6384450" y="4785294"/>
              <a:ext cx="2471100" cy="665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5E5E5E"/>
                  </a:solidFill>
                  <a:latin typeface="Roboto"/>
                  <a:ea typeface="Roboto"/>
                  <a:cs typeface="Roboto"/>
                  <a:sym typeface="Roboto"/>
                </a:rPr>
                <a:t>Winter Storm Elliot</a:t>
              </a:r>
              <a:endParaRPr b="1" sz="1600">
                <a:solidFill>
                  <a:srgbClr val="5E5E5E"/>
                </a:solidFill>
                <a:latin typeface="Roboto"/>
                <a:ea typeface="Roboto"/>
                <a:cs typeface="Roboto"/>
                <a:sym typeface="Roboto"/>
              </a:endParaRPr>
            </a:p>
          </p:txBody>
        </p:sp>
        <p:sp>
          <p:nvSpPr>
            <p:cNvPr id="115" name="Google Shape;115;g3cf1c73cee9_0_0"/>
            <p:cNvSpPr txBox="1"/>
            <p:nvPr/>
          </p:nvSpPr>
          <p:spPr>
            <a:xfrm>
              <a:off x="6384443" y="5529737"/>
              <a:ext cx="2471100" cy="1211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500">
                  <a:solidFill>
                    <a:srgbClr val="5E5E5E"/>
                  </a:solidFill>
                  <a:latin typeface="Roboto"/>
                  <a:ea typeface="Roboto"/>
                  <a:cs typeface="Roboto"/>
                  <a:sym typeface="Roboto"/>
                </a:rPr>
                <a:t>Failed to forecast winter demand</a:t>
              </a:r>
              <a:br>
                <a:rPr lang="en-US" sz="1500">
                  <a:solidFill>
                    <a:srgbClr val="5E5E5E"/>
                  </a:solidFill>
                  <a:latin typeface="Roboto"/>
                  <a:ea typeface="Roboto"/>
                  <a:cs typeface="Roboto"/>
                  <a:sym typeface="Roboto"/>
                </a:rPr>
              </a:br>
              <a:r>
                <a:rPr lang="en-US" sz="1500">
                  <a:solidFill>
                    <a:srgbClr val="5E5E5E"/>
                  </a:solidFill>
                  <a:latin typeface="Roboto"/>
                  <a:ea typeface="Roboto"/>
                  <a:cs typeface="Roboto"/>
                  <a:sym typeface="Roboto"/>
                </a:rPr>
                <a:t>$5.3 B in damages</a:t>
              </a:r>
              <a:br>
                <a:rPr lang="en-US" sz="1500">
                  <a:solidFill>
                    <a:srgbClr val="5E5E5E"/>
                  </a:solidFill>
                  <a:latin typeface="Roboto"/>
                  <a:ea typeface="Roboto"/>
                  <a:cs typeface="Roboto"/>
                  <a:sym typeface="Roboto"/>
                </a:rPr>
              </a:br>
              <a:r>
                <a:rPr lang="en-US" sz="1500">
                  <a:solidFill>
                    <a:srgbClr val="5E5E5E"/>
                  </a:solidFill>
                  <a:latin typeface="Roboto"/>
                  <a:ea typeface="Roboto"/>
                  <a:cs typeface="Roboto"/>
                  <a:sym typeface="Roboto"/>
                </a:rPr>
                <a:t>1.7 million without power</a:t>
              </a:r>
              <a:br>
                <a:rPr lang="en-US" sz="1500">
                  <a:solidFill>
                    <a:srgbClr val="5E5E5E"/>
                  </a:solidFill>
                  <a:latin typeface="Roboto"/>
                  <a:ea typeface="Roboto"/>
                  <a:cs typeface="Roboto"/>
                  <a:sym typeface="Roboto"/>
                </a:rPr>
              </a:br>
              <a:r>
                <a:rPr lang="en-US" sz="1500">
                  <a:solidFill>
                    <a:srgbClr val="5E5E5E"/>
                  </a:solidFill>
                  <a:latin typeface="Roboto"/>
                  <a:ea typeface="Roboto"/>
                  <a:cs typeface="Roboto"/>
                  <a:sym typeface="Roboto"/>
                </a:rPr>
                <a:t>90+ deaths</a:t>
              </a:r>
              <a:endParaRPr sz="1500">
                <a:solidFill>
                  <a:srgbClr val="5E5E5E"/>
                </a:solidFill>
                <a:latin typeface="Roboto"/>
                <a:ea typeface="Roboto"/>
                <a:cs typeface="Roboto"/>
                <a:sym typeface="Roboto"/>
              </a:endParaRPr>
            </a:p>
          </p:txBody>
        </p:sp>
        <p:cxnSp>
          <p:nvCxnSpPr>
            <p:cNvPr id="116" name="Google Shape;116;g3cf1c73cee9_0_0"/>
            <p:cNvCxnSpPr/>
            <p:nvPr/>
          </p:nvCxnSpPr>
          <p:spPr>
            <a:xfrm>
              <a:off x="9143974" y="4062370"/>
              <a:ext cx="0" cy="3450278"/>
            </a:xfrm>
            <a:prstGeom prst="straightConnector1">
              <a:avLst/>
            </a:prstGeom>
            <a:noFill/>
            <a:ln cap="flat" cmpd="sng" w="9525">
              <a:solidFill>
                <a:srgbClr val="D9D9D9"/>
              </a:solidFill>
              <a:prstDash val="dot"/>
              <a:round/>
              <a:headEnd len="sm" w="sm" type="none"/>
              <a:tailEnd len="sm" w="sm" type="none"/>
            </a:ln>
          </p:spPr>
        </p:cxnSp>
        <p:grpSp>
          <p:nvGrpSpPr>
            <p:cNvPr id="117" name="Google Shape;117;g3cf1c73cee9_0_0"/>
            <p:cNvGrpSpPr/>
            <p:nvPr/>
          </p:nvGrpSpPr>
          <p:grpSpPr>
            <a:xfrm>
              <a:off x="3048050" y="4062430"/>
              <a:ext cx="3047924" cy="3463107"/>
              <a:chOff x="0" y="2295575"/>
              <a:chExt cx="2286000" cy="2847950"/>
            </a:xfrm>
          </p:grpSpPr>
          <p:sp>
            <p:nvSpPr>
              <p:cNvPr id="118" name="Google Shape;118;g3cf1c73cee9_0_0"/>
              <p:cNvSpPr/>
              <p:nvPr/>
            </p:nvSpPr>
            <p:spPr>
              <a:xfrm>
                <a:off x="0" y="2823925"/>
                <a:ext cx="2286000" cy="2319600"/>
              </a:xfrm>
              <a:prstGeom prst="rect">
                <a:avLst/>
              </a:prstGeom>
              <a:solidFill>
                <a:srgbClr val="1B78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 name="Google Shape;119;g3cf1c73cee9_0_0"/>
              <p:cNvSpPr/>
              <p:nvPr/>
            </p:nvSpPr>
            <p:spPr>
              <a:xfrm>
                <a:off x="0" y="2295575"/>
                <a:ext cx="2286000" cy="53700"/>
              </a:xfrm>
              <a:prstGeom prst="rect">
                <a:avLst/>
              </a:prstGeom>
              <a:solidFill>
                <a:srgbClr val="1B78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0" name="Google Shape;120;g3cf1c73cee9_0_0"/>
            <p:cNvSpPr txBox="1"/>
            <p:nvPr/>
          </p:nvSpPr>
          <p:spPr>
            <a:xfrm>
              <a:off x="3336420" y="4122696"/>
              <a:ext cx="2175600" cy="3165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600">
                  <a:solidFill>
                    <a:srgbClr val="1B786F"/>
                  </a:solidFill>
                  <a:latin typeface="Roboto"/>
                  <a:ea typeface="Roboto"/>
                  <a:cs typeface="Roboto"/>
                  <a:sym typeface="Roboto"/>
                </a:rPr>
                <a:t>February 2021</a:t>
              </a:r>
              <a:endParaRPr sz="1600">
                <a:solidFill>
                  <a:srgbClr val="1B786F"/>
                </a:solidFill>
                <a:latin typeface="Roboto"/>
                <a:ea typeface="Roboto"/>
                <a:cs typeface="Roboto"/>
                <a:sym typeface="Roboto"/>
              </a:endParaRPr>
            </a:p>
          </p:txBody>
        </p:sp>
        <p:sp>
          <p:nvSpPr>
            <p:cNvPr id="121" name="Google Shape;121;g3cf1c73cee9_0_0"/>
            <p:cNvSpPr txBox="1"/>
            <p:nvPr/>
          </p:nvSpPr>
          <p:spPr>
            <a:xfrm>
              <a:off x="3336450" y="4785294"/>
              <a:ext cx="2471100" cy="665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FFFFFF"/>
                  </a:solidFill>
                  <a:latin typeface="Roboto"/>
                  <a:ea typeface="Roboto"/>
                  <a:cs typeface="Roboto"/>
                  <a:sym typeface="Roboto"/>
                </a:rPr>
                <a:t>Winter Storm Uri</a:t>
              </a:r>
              <a:endParaRPr b="1" sz="1600">
                <a:solidFill>
                  <a:srgbClr val="FFFFFF"/>
                </a:solidFill>
                <a:latin typeface="Roboto"/>
                <a:ea typeface="Roboto"/>
                <a:cs typeface="Roboto"/>
                <a:sym typeface="Roboto"/>
              </a:endParaRPr>
            </a:p>
          </p:txBody>
        </p:sp>
        <p:sp>
          <p:nvSpPr>
            <p:cNvPr id="122" name="Google Shape;122;g3cf1c73cee9_0_0"/>
            <p:cNvSpPr txBox="1"/>
            <p:nvPr/>
          </p:nvSpPr>
          <p:spPr>
            <a:xfrm>
              <a:off x="3336443" y="5529737"/>
              <a:ext cx="2471100" cy="1211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500">
                  <a:solidFill>
                    <a:srgbClr val="FFFFFF"/>
                  </a:solidFill>
                  <a:latin typeface="Roboto"/>
                  <a:ea typeface="Roboto"/>
                  <a:cs typeface="Roboto"/>
                  <a:sym typeface="Roboto"/>
                </a:rPr>
                <a:t>Failed to forecast demand</a:t>
              </a:r>
              <a:br>
                <a:rPr lang="en-US" sz="1500">
                  <a:solidFill>
                    <a:srgbClr val="FFFFFF"/>
                  </a:solidFill>
                  <a:latin typeface="Roboto"/>
                  <a:ea typeface="Roboto"/>
                  <a:cs typeface="Roboto"/>
                  <a:sym typeface="Roboto"/>
                </a:rPr>
              </a:br>
              <a:r>
                <a:rPr lang="en-US" sz="1500">
                  <a:solidFill>
                    <a:srgbClr val="FFFFFF"/>
                  </a:solidFill>
                  <a:latin typeface="Roboto"/>
                  <a:ea typeface="Roboto"/>
                  <a:cs typeface="Roboto"/>
                  <a:sym typeface="Roboto"/>
                </a:rPr>
                <a:t>$80 B - $195 B in damages</a:t>
              </a:r>
              <a:br>
                <a:rPr lang="en-US" sz="1500">
                  <a:solidFill>
                    <a:srgbClr val="FFFFFF"/>
                  </a:solidFill>
                  <a:latin typeface="Roboto"/>
                  <a:ea typeface="Roboto"/>
                  <a:cs typeface="Roboto"/>
                  <a:sym typeface="Roboto"/>
                </a:rPr>
              </a:br>
              <a:r>
                <a:rPr lang="en-US" sz="1500">
                  <a:solidFill>
                    <a:srgbClr val="FFFFFF"/>
                  </a:solidFill>
                  <a:latin typeface="Roboto"/>
                  <a:ea typeface="Roboto"/>
                  <a:cs typeface="Roboto"/>
                  <a:sym typeface="Roboto"/>
                </a:rPr>
                <a:t>4.5 million without power</a:t>
              </a:r>
              <a:br>
                <a:rPr lang="en-US" sz="1500">
                  <a:solidFill>
                    <a:srgbClr val="FFFFFF"/>
                  </a:solidFill>
                  <a:latin typeface="Roboto"/>
                  <a:ea typeface="Roboto"/>
                  <a:cs typeface="Roboto"/>
                  <a:sym typeface="Roboto"/>
                </a:rPr>
              </a:br>
              <a:r>
                <a:rPr lang="en-US" sz="1500">
                  <a:solidFill>
                    <a:srgbClr val="FFFFFF"/>
                  </a:solidFill>
                  <a:latin typeface="Roboto"/>
                  <a:ea typeface="Roboto"/>
                  <a:cs typeface="Roboto"/>
                  <a:sym typeface="Roboto"/>
                </a:rPr>
                <a:t>246-700 deaths</a:t>
              </a:r>
              <a:endParaRPr sz="1500">
                <a:solidFill>
                  <a:srgbClr val="FFFFFF"/>
                </a:solidFill>
                <a:latin typeface="Roboto"/>
                <a:ea typeface="Roboto"/>
                <a:cs typeface="Roboto"/>
                <a:sym typeface="Roboto"/>
              </a:endParaRPr>
            </a:p>
          </p:txBody>
        </p:sp>
        <p:cxnSp>
          <p:nvCxnSpPr>
            <p:cNvPr id="123" name="Google Shape;123;g3cf1c73cee9_0_0"/>
            <p:cNvCxnSpPr/>
            <p:nvPr/>
          </p:nvCxnSpPr>
          <p:spPr>
            <a:xfrm>
              <a:off x="6095974" y="4062430"/>
              <a:ext cx="0" cy="3450278"/>
            </a:xfrm>
            <a:prstGeom prst="straightConnector1">
              <a:avLst/>
            </a:prstGeom>
            <a:noFill/>
            <a:ln cap="flat" cmpd="sng" w="9525">
              <a:solidFill>
                <a:srgbClr val="83E3DA"/>
              </a:solidFill>
              <a:prstDash val="dot"/>
              <a:round/>
              <a:headEnd len="sm" w="sm" type="none"/>
              <a:tailEnd len="sm" w="sm" type="none"/>
            </a:ln>
          </p:spPr>
        </p:cxnSp>
        <p:grpSp>
          <p:nvGrpSpPr>
            <p:cNvPr id="124" name="Google Shape;124;g3cf1c73cee9_0_0"/>
            <p:cNvGrpSpPr/>
            <p:nvPr/>
          </p:nvGrpSpPr>
          <p:grpSpPr>
            <a:xfrm>
              <a:off x="50" y="4062430"/>
              <a:ext cx="3047924" cy="3463107"/>
              <a:chOff x="0" y="2295575"/>
              <a:chExt cx="2286000" cy="2847950"/>
            </a:xfrm>
          </p:grpSpPr>
          <p:sp>
            <p:nvSpPr>
              <p:cNvPr id="125" name="Google Shape;125;g3cf1c73cee9_0_0"/>
              <p:cNvSpPr/>
              <p:nvPr/>
            </p:nvSpPr>
            <p:spPr>
              <a:xfrm>
                <a:off x="0" y="2823925"/>
                <a:ext cx="2286000" cy="2319600"/>
              </a:xfrm>
              <a:prstGeom prst="rect">
                <a:avLst/>
              </a:prstGeom>
              <a:solidFill>
                <a:srgbClr val="1B78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 name="Google Shape;126;g3cf1c73cee9_0_0"/>
              <p:cNvSpPr/>
              <p:nvPr/>
            </p:nvSpPr>
            <p:spPr>
              <a:xfrm>
                <a:off x="0" y="2295575"/>
                <a:ext cx="2286000" cy="53700"/>
              </a:xfrm>
              <a:prstGeom prst="rect">
                <a:avLst/>
              </a:prstGeom>
              <a:solidFill>
                <a:srgbClr val="1B78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7" name="Google Shape;127;g3cf1c73cee9_0_0"/>
            <p:cNvSpPr txBox="1"/>
            <p:nvPr/>
          </p:nvSpPr>
          <p:spPr>
            <a:xfrm>
              <a:off x="288421" y="4122696"/>
              <a:ext cx="1853100" cy="3165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600">
                  <a:solidFill>
                    <a:srgbClr val="1B786F"/>
                  </a:solidFill>
                  <a:latin typeface="Roboto"/>
                  <a:ea typeface="Roboto"/>
                  <a:cs typeface="Roboto"/>
                  <a:sym typeface="Roboto"/>
                </a:rPr>
                <a:t>August 2020</a:t>
              </a:r>
              <a:endParaRPr sz="1600">
                <a:solidFill>
                  <a:srgbClr val="1B786F"/>
                </a:solidFill>
                <a:latin typeface="Roboto"/>
                <a:ea typeface="Roboto"/>
                <a:cs typeface="Roboto"/>
                <a:sym typeface="Roboto"/>
              </a:endParaRPr>
            </a:p>
          </p:txBody>
        </p:sp>
        <p:sp>
          <p:nvSpPr>
            <p:cNvPr id="128" name="Google Shape;128;g3cf1c73cee9_0_0"/>
            <p:cNvSpPr txBox="1"/>
            <p:nvPr/>
          </p:nvSpPr>
          <p:spPr>
            <a:xfrm>
              <a:off x="288450" y="4785294"/>
              <a:ext cx="2471100" cy="665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FFFFFF"/>
                  </a:solidFill>
                  <a:latin typeface="Roboto"/>
                  <a:ea typeface="Roboto"/>
                  <a:cs typeface="Roboto"/>
                  <a:sym typeface="Roboto"/>
                </a:rPr>
                <a:t>California Heat Wave</a:t>
              </a:r>
              <a:endParaRPr b="1" sz="1600">
                <a:solidFill>
                  <a:srgbClr val="FFFFFF"/>
                </a:solidFill>
                <a:latin typeface="Roboto"/>
                <a:ea typeface="Roboto"/>
                <a:cs typeface="Roboto"/>
                <a:sym typeface="Roboto"/>
              </a:endParaRPr>
            </a:p>
          </p:txBody>
        </p:sp>
        <p:sp>
          <p:nvSpPr>
            <p:cNvPr id="129" name="Google Shape;129;g3cf1c73cee9_0_0"/>
            <p:cNvSpPr txBox="1"/>
            <p:nvPr/>
          </p:nvSpPr>
          <p:spPr>
            <a:xfrm>
              <a:off x="288443" y="5529737"/>
              <a:ext cx="2471100" cy="1211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500">
                  <a:solidFill>
                    <a:srgbClr val="FFFFFF"/>
                  </a:solidFill>
                  <a:latin typeface="Roboto"/>
                  <a:ea typeface="Roboto"/>
                  <a:cs typeface="Roboto"/>
                  <a:sym typeface="Roboto"/>
                </a:rPr>
                <a:t>Failed to forecast peak cooling demand</a:t>
              </a:r>
              <a:br>
                <a:rPr lang="en-US" sz="1500">
                  <a:solidFill>
                    <a:srgbClr val="FFFFFF"/>
                  </a:solidFill>
                  <a:latin typeface="Roboto"/>
                  <a:ea typeface="Roboto"/>
                  <a:cs typeface="Roboto"/>
                  <a:sym typeface="Roboto"/>
                </a:rPr>
              </a:br>
              <a:r>
                <a:rPr lang="en-US" sz="1500">
                  <a:solidFill>
                    <a:srgbClr val="FFFFFF"/>
                  </a:solidFill>
                  <a:latin typeface="Roboto"/>
                  <a:ea typeface="Roboto"/>
                  <a:cs typeface="Roboto"/>
                  <a:sym typeface="Roboto"/>
                </a:rPr>
                <a:t>$1.5 B in damages</a:t>
              </a:r>
              <a:br>
                <a:rPr lang="en-US" sz="1500">
                  <a:solidFill>
                    <a:srgbClr val="FFFFFF"/>
                  </a:solidFill>
                  <a:latin typeface="Roboto"/>
                  <a:ea typeface="Roboto"/>
                  <a:cs typeface="Roboto"/>
                  <a:sym typeface="Roboto"/>
                </a:rPr>
              </a:br>
              <a:r>
                <a:rPr lang="en-US" sz="1500">
                  <a:solidFill>
                    <a:srgbClr val="FFFFFF"/>
                  </a:solidFill>
                  <a:latin typeface="Roboto"/>
                  <a:ea typeface="Roboto"/>
                  <a:cs typeface="Roboto"/>
                  <a:sym typeface="Roboto"/>
                </a:rPr>
                <a:t>800,000 without power</a:t>
              </a:r>
              <a:endParaRPr sz="1500">
                <a:solidFill>
                  <a:srgbClr val="FFFFFF"/>
                </a:solidFill>
                <a:latin typeface="Roboto"/>
                <a:ea typeface="Roboto"/>
                <a:cs typeface="Roboto"/>
                <a:sym typeface="Roboto"/>
              </a:endParaRPr>
            </a:p>
          </p:txBody>
        </p:sp>
        <p:cxnSp>
          <p:nvCxnSpPr>
            <p:cNvPr id="130" name="Google Shape;130;g3cf1c73cee9_0_0"/>
            <p:cNvCxnSpPr/>
            <p:nvPr/>
          </p:nvCxnSpPr>
          <p:spPr>
            <a:xfrm>
              <a:off x="3047974" y="4062430"/>
              <a:ext cx="0" cy="3450278"/>
            </a:xfrm>
            <a:prstGeom prst="straightConnector1">
              <a:avLst/>
            </a:prstGeom>
            <a:noFill/>
            <a:ln cap="flat" cmpd="sng" w="9525">
              <a:solidFill>
                <a:srgbClr val="83E3DA"/>
              </a:solidFill>
              <a:prstDash val="dot"/>
              <a:round/>
              <a:headEnd len="sm" w="sm" type="none"/>
              <a:tailEnd len="sm" w="sm" type="none"/>
            </a:ln>
          </p:spPr>
        </p:cxnSp>
      </p:grpSp>
      <p:sp>
        <p:nvSpPr>
          <p:cNvPr id="131" name="Google Shape;131;g3cf1c73cee9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cf1c73cee9_0_10"/>
          <p:cNvSpPr txBox="1"/>
          <p:nvPr>
            <p:ph type="title"/>
          </p:nvPr>
        </p:nvSpPr>
        <p:spPr>
          <a:xfrm>
            <a:off x="831850" y="69768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Goal: Construct a Dataset to Train Short-Term Forecasting Models</a:t>
            </a:r>
            <a:endParaRPr/>
          </a:p>
        </p:txBody>
      </p:sp>
      <p:sp>
        <p:nvSpPr>
          <p:cNvPr id="137" name="Google Shape;137;g3cf1c73cee9_0_10"/>
          <p:cNvSpPr txBox="1"/>
          <p:nvPr>
            <p:ph idx="1" type="body"/>
          </p:nvPr>
        </p:nvSpPr>
        <p:spPr>
          <a:xfrm>
            <a:off x="831850" y="3748825"/>
            <a:ext cx="5227800" cy="2000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800"/>
              <a:t>Users/Customers:</a:t>
            </a:r>
            <a:endParaRPr sz="2800"/>
          </a:p>
          <a:p>
            <a:pPr indent="-406400" lvl="0" marL="457200" rtl="0" algn="l">
              <a:spcBef>
                <a:spcPts val="1000"/>
              </a:spcBef>
              <a:spcAft>
                <a:spcPts val="0"/>
              </a:spcAft>
              <a:buSzPts val="2800"/>
              <a:buChar char="-"/>
            </a:pPr>
            <a:r>
              <a:rPr lang="en-US" sz="2800"/>
              <a:t>Grid Operators</a:t>
            </a:r>
            <a:endParaRPr sz="2800"/>
          </a:p>
          <a:p>
            <a:pPr indent="-406400" lvl="0" marL="457200" rtl="0" algn="l">
              <a:spcBef>
                <a:spcPts val="0"/>
              </a:spcBef>
              <a:spcAft>
                <a:spcPts val="0"/>
              </a:spcAft>
              <a:buSzPts val="2800"/>
              <a:buChar char="-"/>
            </a:pPr>
            <a:r>
              <a:rPr lang="en-US" sz="2800"/>
              <a:t>Data Scientists</a:t>
            </a:r>
            <a:endParaRPr sz="2800"/>
          </a:p>
        </p:txBody>
      </p:sp>
      <p:sp>
        <p:nvSpPr>
          <p:cNvPr id="138" name="Google Shape;138;g3cf1c73cee9_0_10"/>
          <p:cNvSpPr txBox="1"/>
          <p:nvPr>
            <p:ph idx="1" type="body"/>
          </p:nvPr>
        </p:nvSpPr>
        <p:spPr>
          <a:xfrm>
            <a:off x="6119650" y="3748825"/>
            <a:ext cx="5227800" cy="2000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800"/>
              <a:t>Stakeholders:</a:t>
            </a:r>
            <a:endParaRPr sz="2800"/>
          </a:p>
          <a:p>
            <a:pPr indent="-406400" lvl="0" marL="457200" rtl="0" algn="l">
              <a:spcBef>
                <a:spcPts val="1000"/>
              </a:spcBef>
              <a:spcAft>
                <a:spcPts val="0"/>
              </a:spcAft>
              <a:buSzPts val="2800"/>
              <a:buChar char="-"/>
            </a:pPr>
            <a:r>
              <a:rPr lang="en-US" sz="2800"/>
              <a:t>Businesses</a:t>
            </a:r>
            <a:endParaRPr sz="2800"/>
          </a:p>
          <a:p>
            <a:pPr indent="-406400" lvl="0" marL="457200" rtl="0" algn="l">
              <a:spcBef>
                <a:spcPts val="0"/>
              </a:spcBef>
              <a:spcAft>
                <a:spcPts val="0"/>
              </a:spcAft>
              <a:buSzPts val="2800"/>
              <a:buChar char="-"/>
            </a:pPr>
            <a:r>
              <a:rPr lang="en-US" sz="2800"/>
              <a:t>Power plants</a:t>
            </a:r>
            <a:endParaRPr sz="2800"/>
          </a:p>
          <a:p>
            <a:pPr indent="-406400" lvl="0" marL="457200" rtl="0" algn="l">
              <a:spcBef>
                <a:spcPts val="0"/>
              </a:spcBef>
              <a:spcAft>
                <a:spcPts val="0"/>
              </a:spcAft>
              <a:buSzPts val="2800"/>
              <a:buChar char="-"/>
            </a:pPr>
            <a:r>
              <a:rPr lang="en-US" sz="2800"/>
              <a:t>Everyday consumer</a:t>
            </a:r>
            <a:endParaRPr sz="2800"/>
          </a:p>
        </p:txBody>
      </p:sp>
      <p:sp>
        <p:nvSpPr>
          <p:cNvPr id="139" name="Google Shape;139;g3cf1c73cee9_0_1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4"/>
          <p:cNvSpPr txBox="1"/>
          <p:nvPr>
            <p:ph type="title"/>
          </p:nvPr>
        </p:nvSpPr>
        <p:spPr>
          <a:xfrm>
            <a:off x="8958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Source of Data </a:t>
            </a:r>
            <a:endParaRPr/>
          </a:p>
        </p:txBody>
      </p:sp>
      <p:sp>
        <p:nvSpPr>
          <p:cNvPr id="145" name="Google Shape;145;p4"/>
          <p:cNvSpPr txBox="1"/>
          <p:nvPr>
            <p:ph idx="12" type="sldNum"/>
          </p:nvPr>
        </p:nvSpPr>
        <p:spPr>
          <a:xfrm>
            <a:off x="8593348" y="6463199"/>
            <a:ext cx="2966700" cy="394800"/>
          </a:xfrm>
          <a:prstGeom prst="rect">
            <a:avLst/>
          </a:prstGeom>
        </p:spPr>
        <p:txBody>
          <a:bodyPr anchorCtr="0" anchor="ctr" bIns="98875" lIns="98875" spcFirstLastPara="1" rIns="98875" wrap="square" tIns="98875">
            <a:noAutofit/>
          </a:bodyPr>
          <a:lstStyle/>
          <a:p>
            <a:pPr indent="0" lvl="0" marL="0" rtl="0" algn="r">
              <a:spcBef>
                <a:spcPts val="0"/>
              </a:spcBef>
              <a:spcAft>
                <a:spcPts val="0"/>
              </a:spcAft>
              <a:buClr>
                <a:srgbClr val="000000"/>
              </a:buClr>
              <a:buFont typeface="Arial"/>
              <a:buNone/>
            </a:pPr>
            <a:fld id="{00000000-1234-1234-1234-123412341234}" type="slidenum">
              <a:rPr lang="en-US" sz="1297"/>
              <a:t>‹#›</a:t>
            </a:fld>
            <a:endParaRPr sz="1297"/>
          </a:p>
        </p:txBody>
      </p:sp>
      <p:grpSp>
        <p:nvGrpSpPr>
          <p:cNvPr id="146" name="Google Shape;146;p4"/>
          <p:cNvGrpSpPr/>
          <p:nvPr/>
        </p:nvGrpSpPr>
        <p:grpSpPr>
          <a:xfrm>
            <a:off x="1578030" y="5292656"/>
            <a:ext cx="8590804" cy="927863"/>
            <a:chOff x="1593000" y="2322568"/>
            <a:chExt cx="5957975" cy="643500"/>
          </a:xfrm>
        </p:grpSpPr>
        <p:sp>
          <p:nvSpPr>
            <p:cNvPr id="147" name="Google Shape;147;p4"/>
            <p:cNvSpPr/>
            <p:nvPr/>
          </p:nvSpPr>
          <p:spPr>
            <a:xfrm>
              <a:off x="3728375" y="2322568"/>
              <a:ext cx="3822600" cy="643500"/>
            </a:xfrm>
            <a:prstGeom prst="rect">
              <a:avLst/>
            </a:prstGeom>
            <a:solidFill>
              <a:srgbClr val="EEEEEE"/>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48" name="Google Shape;148;p4"/>
            <p:cNvSpPr/>
            <p:nvPr/>
          </p:nvSpPr>
          <p:spPr>
            <a:xfrm flipH="1">
              <a:off x="2283025" y="2322575"/>
              <a:ext cx="1844400" cy="6426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49" name="Google Shape;149;p4"/>
            <p:cNvSpPr/>
            <p:nvPr/>
          </p:nvSpPr>
          <p:spPr>
            <a:xfrm rot="-5400000">
              <a:off x="3501574" y="1934671"/>
              <a:ext cx="643356" cy="1419149"/>
            </a:xfrm>
            <a:prstGeom prst="flowChartOffpageConnector">
              <a:avLst/>
            </a:prstGeom>
            <a:solidFill>
              <a:srgbClr val="1B786F"/>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50" name="Google Shape;150;p4"/>
            <p:cNvSpPr/>
            <p:nvPr/>
          </p:nvSpPr>
          <p:spPr>
            <a:xfrm>
              <a:off x="2342625" y="2399951"/>
              <a:ext cx="1940700" cy="4959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l">
                <a:lnSpc>
                  <a:spcPct val="115000"/>
                </a:lnSpc>
                <a:spcBef>
                  <a:spcPts val="0"/>
                </a:spcBef>
                <a:spcAft>
                  <a:spcPts val="0"/>
                </a:spcAft>
                <a:buNone/>
              </a:pPr>
              <a:r>
                <a:rPr lang="en-US" sz="1805">
                  <a:solidFill>
                    <a:srgbClr val="FFFFFF"/>
                  </a:solidFill>
                  <a:latin typeface="Calibri"/>
                  <a:ea typeface="Calibri"/>
                  <a:cs typeface="Calibri"/>
                  <a:sym typeface="Calibri"/>
                </a:rPr>
                <a:t>Historical Weather</a:t>
              </a:r>
              <a:endParaRPr sz="1805">
                <a:solidFill>
                  <a:srgbClr val="FFFFFF"/>
                </a:solidFill>
                <a:latin typeface="Calibri"/>
                <a:ea typeface="Calibri"/>
                <a:cs typeface="Calibri"/>
                <a:sym typeface="Calibri"/>
              </a:endParaRPr>
            </a:p>
            <a:p>
              <a:pPr indent="0" lvl="0" marL="0" rtl="0" algn="l">
                <a:lnSpc>
                  <a:spcPct val="115000"/>
                </a:lnSpc>
                <a:spcBef>
                  <a:spcPts val="0"/>
                </a:spcBef>
                <a:spcAft>
                  <a:spcPts val="0"/>
                </a:spcAft>
                <a:buNone/>
              </a:pPr>
              <a:r>
                <a:rPr i="1" lang="en-US" sz="1589" u="sng">
                  <a:solidFill>
                    <a:schemeClr val="lt1"/>
                  </a:solidFill>
                  <a:latin typeface="Calibri"/>
                  <a:ea typeface="Calibri"/>
                  <a:cs typeface="Calibri"/>
                  <a:sym typeface="Calibri"/>
                  <a:hlinkClick r:id="rId3">
                    <a:extLst>
                      <a:ext uri="{A12FA001-AC4F-418D-AE19-62706E023703}">
                        <ahyp:hlinkClr val="tx"/>
                      </a:ext>
                    </a:extLst>
                  </a:hlinkClick>
                </a:rPr>
                <a:t>open-meteo.com</a:t>
              </a:r>
              <a:endParaRPr i="1" sz="1589">
                <a:solidFill>
                  <a:schemeClr val="lt1"/>
                </a:solidFill>
                <a:latin typeface="Calibri"/>
                <a:ea typeface="Calibri"/>
                <a:cs typeface="Calibri"/>
                <a:sym typeface="Calibri"/>
              </a:endParaRPr>
            </a:p>
          </p:txBody>
        </p:sp>
        <p:sp>
          <p:nvSpPr>
            <p:cNvPr id="151" name="Google Shape;151;p4"/>
            <p:cNvSpPr/>
            <p:nvPr/>
          </p:nvSpPr>
          <p:spPr>
            <a:xfrm>
              <a:off x="1593000" y="2322568"/>
              <a:ext cx="690000" cy="642300"/>
            </a:xfrm>
            <a:prstGeom prst="rect">
              <a:avLst/>
            </a:prstGeom>
            <a:solidFill>
              <a:srgbClr val="0D5CDF"/>
            </a:solidFill>
            <a:ln>
              <a:noFill/>
            </a:ln>
            <a:effectLst>
              <a:outerShdw blurRad="103012" rotWithShape="0" algn="bl" dir="2700000" dist="41205">
                <a:srgbClr val="000000">
                  <a:alpha val="17000"/>
                </a:srgbClr>
              </a:outerShdw>
            </a:effectLst>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52" name="Google Shape;152;p4"/>
            <p:cNvSpPr/>
            <p:nvPr/>
          </p:nvSpPr>
          <p:spPr>
            <a:xfrm>
              <a:off x="1593000" y="2322575"/>
              <a:ext cx="690000" cy="6426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ctr">
                <a:spcBef>
                  <a:spcPts val="0"/>
                </a:spcBef>
                <a:spcAft>
                  <a:spcPts val="0"/>
                </a:spcAft>
                <a:buNone/>
              </a:pPr>
              <a:r>
                <a:rPr lang="en-US" sz="3785">
                  <a:solidFill>
                    <a:srgbClr val="FFFFFF"/>
                  </a:solidFill>
                  <a:latin typeface="Roboto Thin"/>
                  <a:ea typeface="Roboto Thin"/>
                  <a:cs typeface="Roboto Thin"/>
                  <a:sym typeface="Roboto Thin"/>
                </a:rPr>
                <a:t>05</a:t>
              </a:r>
              <a:endParaRPr sz="3785">
                <a:solidFill>
                  <a:srgbClr val="FFFFFF"/>
                </a:solidFill>
                <a:latin typeface="Roboto Thin"/>
                <a:ea typeface="Roboto Thin"/>
                <a:cs typeface="Roboto Thin"/>
                <a:sym typeface="Roboto Thin"/>
              </a:endParaRPr>
            </a:p>
          </p:txBody>
        </p:sp>
        <p:sp>
          <p:nvSpPr>
            <p:cNvPr id="153" name="Google Shape;153;p4"/>
            <p:cNvSpPr/>
            <p:nvPr/>
          </p:nvSpPr>
          <p:spPr>
            <a:xfrm>
              <a:off x="4387850" y="2323750"/>
              <a:ext cx="2971200" cy="642300"/>
            </a:xfrm>
            <a:prstGeom prst="rect">
              <a:avLst/>
            </a:prstGeom>
            <a:noFill/>
            <a:ln>
              <a:noFill/>
            </a:ln>
          </p:spPr>
          <p:txBody>
            <a:bodyPr anchorCtr="0" anchor="ctr" bIns="131825" lIns="131825" spcFirstLastPara="1" rIns="131825" wrap="square" tIns="131825">
              <a:noAutofit/>
            </a:bodyPr>
            <a:lstStyle/>
            <a:p>
              <a:pPr indent="-430579" lvl="0" marL="659274" rtl="0" algn="l">
                <a:spcBef>
                  <a:spcPts val="0"/>
                </a:spcBef>
                <a:spcAft>
                  <a:spcPts val="0"/>
                </a:spcAft>
                <a:buClr>
                  <a:srgbClr val="1B786F"/>
                </a:buClr>
                <a:buSzPts val="1590"/>
                <a:buFont typeface="Calibri"/>
                <a:buChar char="●"/>
              </a:pPr>
              <a:r>
                <a:rPr lang="en-US" sz="1589">
                  <a:solidFill>
                    <a:srgbClr val="1B786F"/>
                  </a:solidFill>
                  <a:latin typeface="Calibri"/>
                  <a:ea typeface="Calibri"/>
                  <a:cs typeface="Calibri"/>
                  <a:sym typeface="Calibri"/>
                </a:rPr>
                <a:t>Historical records dating back decades: temperature, precipitation, wind, cloud cover &amp; solar radiation</a:t>
              </a:r>
              <a:endParaRPr sz="1589">
                <a:solidFill>
                  <a:srgbClr val="1B786F"/>
                </a:solidFill>
                <a:latin typeface="Calibri"/>
                <a:ea typeface="Calibri"/>
                <a:cs typeface="Calibri"/>
                <a:sym typeface="Calibri"/>
              </a:endParaRPr>
            </a:p>
            <a:p>
              <a:pPr indent="0" lvl="0" marL="659274" rtl="0" algn="l">
                <a:lnSpc>
                  <a:spcPct val="115000"/>
                </a:lnSpc>
                <a:spcBef>
                  <a:spcPts val="0"/>
                </a:spcBef>
                <a:spcAft>
                  <a:spcPts val="0"/>
                </a:spcAft>
                <a:buNone/>
              </a:pPr>
              <a:r>
                <a:t/>
              </a:r>
              <a:endParaRPr sz="1189">
                <a:solidFill>
                  <a:srgbClr val="1B786F"/>
                </a:solidFill>
                <a:latin typeface="Roboto"/>
                <a:ea typeface="Roboto"/>
                <a:cs typeface="Roboto"/>
                <a:sym typeface="Roboto"/>
              </a:endParaRPr>
            </a:p>
          </p:txBody>
        </p:sp>
      </p:grpSp>
      <p:grpSp>
        <p:nvGrpSpPr>
          <p:cNvPr id="154" name="Google Shape;154;p4"/>
          <p:cNvGrpSpPr/>
          <p:nvPr/>
        </p:nvGrpSpPr>
        <p:grpSpPr>
          <a:xfrm>
            <a:off x="1578030" y="2590617"/>
            <a:ext cx="8590804" cy="927863"/>
            <a:chOff x="1593000" y="2322568"/>
            <a:chExt cx="5957975" cy="643500"/>
          </a:xfrm>
        </p:grpSpPr>
        <p:sp>
          <p:nvSpPr>
            <p:cNvPr id="155" name="Google Shape;155;p4"/>
            <p:cNvSpPr/>
            <p:nvPr/>
          </p:nvSpPr>
          <p:spPr>
            <a:xfrm>
              <a:off x="3728375" y="2322568"/>
              <a:ext cx="3822600" cy="643500"/>
            </a:xfrm>
            <a:prstGeom prst="rect">
              <a:avLst/>
            </a:prstGeom>
            <a:solidFill>
              <a:srgbClr val="EEEEEE"/>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56" name="Google Shape;156;p4"/>
            <p:cNvSpPr/>
            <p:nvPr/>
          </p:nvSpPr>
          <p:spPr>
            <a:xfrm flipH="1">
              <a:off x="2283025" y="2322575"/>
              <a:ext cx="1844400" cy="6426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57" name="Google Shape;157;p4"/>
            <p:cNvSpPr/>
            <p:nvPr/>
          </p:nvSpPr>
          <p:spPr>
            <a:xfrm rot="-5400000">
              <a:off x="3501574" y="1934671"/>
              <a:ext cx="643356" cy="1419149"/>
            </a:xfrm>
            <a:prstGeom prst="flowChartOffpageConnector">
              <a:avLst/>
            </a:prstGeom>
            <a:solidFill>
              <a:srgbClr val="1B786F"/>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58" name="Google Shape;158;p4"/>
            <p:cNvSpPr/>
            <p:nvPr/>
          </p:nvSpPr>
          <p:spPr>
            <a:xfrm>
              <a:off x="2342625" y="2399951"/>
              <a:ext cx="1940700" cy="4959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l">
                <a:lnSpc>
                  <a:spcPct val="115000"/>
                </a:lnSpc>
                <a:spcBef>
                  <a:spcPts val="0"/>
                </a:spcBef>
                <a:spcAft>
                  <a:spcPts val="0"/>
                </a:spcAft>
                <a:buNone/>
              </a:pPr>
              <a:r>
                <a:rPr lang="en-US" sz="1505">
                  <a:solidFill>
                    <a:schemeClr val="lt1"/>
                  </a:solidFill>
                  <a:latin typeface="Roboto Medium"/>
                  <a:ea typeface="Roboto Medium"/>
                  <a:cs typeface="Roboto Medium"/>
                  <a:sym typeface="Roboto Medium"/>
                </a:rPr>
                <a:t>County Latitude &amp; Longitude</a:t>
              </a:r>
              <a:endParaRPr sz="1505">
                <a:solidFill>
                  <a:schemeClr val="lt1"/>
                </a:solidFill>
                <a:latin typeface="Roboto Medium"/>
                <a:ea typeface="Roboto Medium"/>
                <a:cs typeface="Roboto Medium"/>
                <a:sym typeface="Roboto Medium"/>
              </a:endParaRPr>
            </a:p>
            <a:p>
              <a:pPr indent="0" lvl="0" marL="0" rtl="0" algn="l">
                <a:lnSpc>
                  <a:spcPct val="115000"/>
                </a:lnSpc>
                <a:spcBef>
                  <a:spcPts val="0"/>
                </a:spcBef>
                <a:spcAft>
                  <a:spcPts val="0"/>
                </a:spcAft>
                <a:buNone/>
              </a:pPr>
              <a:r>
                <a:rPr i="1" lang="en-US" sz="1289" u="sng">
                  <a:solidFill>
                    <a:schemeClr val="lt1"/>
                  </a:solidFill>
                  <a:latin typeface="Roboto Medium"/>
                  <a:ea typeface="Roboto Medium"/>
                  <a:cs typeface="Roboto Medium"/>
                  <a:sym typeface="Roboto Medium"/>
                  <a:hlinkClick r:id="rId4">
                    <a:extLst>
                      <a:ext uri="{A12FA001-AC4F-418D-AE19-62706E023703}">
                        <ahyp:hlinkClr val="tx"/>
                      </a:ext>
                    </a:extLst>
                  </a:hlinkClick>
                </a:rPr>
                <a:t>Census.gov</a:t>
              </a:r>
              <a:endParaRPr i="1" sz="1289">
                <a:solidFill>
                  <a:schemeClr val="lt1"/>
                </a:solidFill>
                <a:latin typeface="Roboto Medium"/>
                <a:ea typeface="Roboto Medium"/>
                <a:cs typeface="Roboto Medium"/>
                <a:sym typeface="Roboto Medium"/>
              </a:endParaRPr>
            </a:p>
          </p:txBody>
        </p:sp>
        <p:sp>
          <p:nvSpPr>
            <p:cNvPr id="159" name="Google Shape;159;p4"/>
            <p:cNvSpPr/>
            <p:nvPr/>
          </p:nvSpPr>
          <p:spPr>
            <a:xfrm>
              <a:off x="1593000" y="2322568"/>
              <a:ext cx="690000" cy="642300"/>
            </a:xfrm>
            <a:prstGeom prst="rect">
              <a:avLst/>
            </a:prstGeom>
            <a:solidFill>
              <a:srgbClr val="0D5CDF"/>
            </a:solidFill>
            <a:ln>
              <a:noFill/>
            </a:ln>
            <a:effectLst>
              <a:outerShdw blurRad="103012" rotWithShape="0" algn="bl" dir="2700000" dist="41205">
                <a:srgbClr val="000000">
                  <a:alpha val="17000"/>
                </a:srgbClr>
              </a:outerShdw>
            </a:effectLst>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60" name="Google Shape;160;p4"/>
            <p:cNvSpPr/>
            <p:nvPr/>
          </p:nvSpPr>
          <p:spPr>
            <a:xfrm>
              <a:off x="1593000" y="2322575"/>
              <a:ext cx="690000" cy="6426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ctr">
                <a:spcBef>
                  <a:spcPts val="0"/>
                </a:spcBef>
                <a:spcAft>
                  <a:spcPts val="0"/>
                </a:spcAft>
                <a:buNone/>
              </a:pPr>
              <a:r>
                <a:rPr lang="en-US" sz="3785">
                  <a:solidFill>
                    <a:srgbClr val="FFFFFF"/>
                  </a:solidFill>
                  <a:latin typeface="Roboto Thin"/>
                  <a:ea typeface="Roboto Thin"/>
                  <a:cs typeface="Roboto Thin"/>
                  <a:sym typeface="Roboto Thin"/>
                </a:rPr>
                <a:t>02</a:t>
              </a:r>
              <a:endParaRPr sz="3785">
                <a:solidFill>
                  <a:srgbClr val="FFFFFF"/>
                </a:solidFill>
                <a:latin typeface="Roboto Thin"/>
                <a:ea typeface="Roboto Thin"/>
                <a:cs typeface="Roboto Thin"/>
                <a:sym typeface="Roboto Thin"/>
              </a:endParaRPr>
            </a:p>
          </p:txBody>
        </p:sp>
        <p:sp>
          <p:nvSpPr>
            <p:cNvPr id="161" name="Google Shape;161;p4"/>
            <p:cNvSpPr/>
            <p:nvPr/>
          </p:nvSpPr>
          <p:spPr>
            <a:xfrm>
              <a:off x="4387850" y="2323750"/>
              <a:ext cx="2971200" cy="642300"/>
            </a:xfrm>
            <a:prstGeom prst="rect">
              <a:avLst/>
            </a:prstGeom>
            <a:noFill/>
            <a:ln>
              <a:noFill/>
            </a:ln>
          </p:spPr>
          <p:txBody>
            <a:bodyPr anchorCtr="0" anchor="ctr" bIns="131825" lIns="131825" spcFirstLastPara="1" rIns="131825" wrap="square" tIns="131825">
              <a:noAutofit/>
            </a:bodyPr>
            <a:lstStyle/>
            <a:p>
              <a:pPr indent="-430579" lvl="0" marL="659274" rtl="0" algn="l">
                <a:lnSpc>
                  <a:spcPct val="115000"/>
                </a:lnSpc>
                <a:spcBef>
                  <a:spcPts val="0"/>
                </a:spcBef>
                <a:spcAft>
                  <a:spcPts val="0"/>
                </a:spcAft>
                <a:buClr>
                  <a:srgbClr val="1B786F"/>
                </a:buClr>
                <a:buSzPts val="1590"/>
                <a:buFont typeface="Calibri"/>
                <a:buChar char="●"/>
              </a:pPr>
              <a:r>
                <a:rPr lang="en-US" sz="1589">
                  <a:solidFill>
                    <a:srgbClr val="1B786F"/>
                  </a:solidFill>
                  <a:latin typeface="Calibri"/>
                  <a:ea typeface="Calibri"/>
                  <a:cs typeface="Calibri"/>
                  <a:sym typeface="Calibri"/>
                </a:rPr>
                <a:t>Official Centroid coordinates for U.S. county  </a:t>
              </a:r>
              <a:endParaRPr sz="1589">
                <a:solidFill>
                  <a:srgbClr val="1B786F"/>
                </a:solidFill>
                <a:latin typeface="Calibri"/>
                <a:ea typeface="Calibri"/>
                <a:cs typeface="Calibri"/>
                <a:sym typeface="Calibri"/>
              </a:endParaRPr>
            </a:p>
          </p:txBody>
        </p:sp>
      </p:grpSp>
      <p:grpSp>
        <p:nvGrpSpPr>
          <p:cNvPr id="162" name="Google Shape;162;p4"/>
          <p:cNvGrpSpPr/>
          <p:nvPr/>
        </p:nvGrpSpPr>
        <p:grpSpPr>
          <a:xfrm>
            <a:off x="1578030" y="1690827"/>
            <a:ext cx="8590804" cy="927863"/>
            <a:chOff x="1593000" y="2322568"/>
            <a:chExt cx="5957975" cy="643500"/>
          </a:xfrm>
        </p:grpSpPr>
        <p:sp>
          <p:nvSpPr>
            <p:cNvPr id="163" name="Google Shape;163;p4"/>
            <p:cNvSpPr/>
            <p:nvPr/>
          </p:nvSpPr>
          <p:spPr>
            <a:xfrm>
              <a:off x="3728375" y="2322568"/>
              <a:ext cx="3822600" cy="643500"/>
            </a:xfrm>
            <a:prstGeom prst="rect">
              <a:avLst/>
            </a:prstGeom>
            <a:solidFill>
              <a:srgbClr val="EEEEEE"/>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64" name="Google Shape;164;p4"/>
            <p:cNvSpPr/>
            <p:nvPr/>
          </p:nvSpPr>
          <p:spPr>
            <a:xfrm flipH="1">
              <a:off x="2283025" y="2322575"/>
              <a:ext cx="1844400" cy="6426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65" name="Google Shape;165;p4"/>
            <p:cNvSpPr/>
            <p:nvPr/>
          </p:nvSpPr>
          <p:spPr>
            <a:xfrm rot="-5400000">
              <a:off x="3501574" y="1934671"/>
              <a:ext cx="643356" cy="1419149"/>
            </a:xfrm>
            <a:prstGeom prst="flowChartOffpageConnector">
              <a:avLst/>
            </a:prstGeom>
            <a:solidFill>
              <a:srgbClr val="1B786F"/>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66" name="Google Shape;166;p4"/>
            <p:cNvSpPr/>
            <p:nvPr/>
          </p:nvSpPr>
          <p:spPr>
            <a:xfrm>
              <a:off x="2342625" y="2399951"/>
              <a:ext cx="1940700" cy="4959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l">
                <a:lnSpc>
                  <a:spcPct val="115000"/>
                </a:lnSpc>
                <a:spcBef>
                  <a:spcPts val="0"/>
                </a:spcBef>
                <a:spcAft>
                  <a:spcPts val="0"/>
                </a:spcAft>
                <a:buNone/>
              </a:pPr>
              <a:r>
                <a:rPr lang="en-US" sz="1705">
                  <a:solidFill>
                    <a:schemeClr val="lt1"/>
                  </a:solidFill>
                  <a:latin typeface="Calibri"/>
                  <a:ea typeface="Calibri"/>
                  <a:cs typeface="Calibri"/>
                  <a:sym typeface="Calibri"/>
                </a:rPr>
                <a:t>Population By County</a:t>
              </a:r>
              <a:endParaRPr sz="1705">
                <a:solidFill>
                  <a:schemeClr val="lt1"/>
                </a:solidFill>
                <a:latin typeface="Calibri"/>
                <a:ea typeface="Calibri"/>
                <a:cs typeface="Calibri"/>
                <a:sym typeface="Calibri"/>
              </a:endParaRPr>
            </a:p>
            <a:p>
              <a:pPr indent="0" lvl="0" marL="0" rtl="0" algn="l">
                <a:lnSpc>
                  <a:spcPct val="115000"/>
                </a:lnSpc>
                <a:spcBef>
                  <a:spcPts val="0"/>
                </a:spcBef>
                <a:spcAft>
                  <a:spcPts val="0"/>
                </a:spcAft>
                <a:buNone/>
              </a:pPr>
              <a:r>
                <a:rPr i="1" lang="en-US" sz="1489" u="sng">
                  <a:solidFill>
                    <a:schemeClr val="lt1"/>
                  </a:solidFill>
                  <a:latin typeface="Calibri"/>
                  <a:ea typeface="Calibri"/>
                  <a:cs typeface="Calibri"/>
                  <a:sym typeface="Calibri"/>
                  <a:hlinkClick r:id="rId5">
                    <a:extLst>
                      <a:ext uri="{A12FA001-AC4F-418D-AE19-62706E023703}">
                        <ahyp:hlinkClr val="tx"/>
                      </a:ext>
                    </a:extLst>
                  </a:hlinkClick>
                </a:rPr>
                <a:t>census.gov</a:t>
              </a:r>
              <a:endParaRPr i="1" sz="1489">
                <a:solidFill>
                  <a:schemeClr val="lt1"/>
                </a:solidFill>
                <a:latin typeface="Calibri"/>
                <a:ea typeface="Calibri"/>
                <a:cs typeface="Calibri"/>
                <a:sym typeface="Calibri"/>
              </a:endParaRPr>
            </a:p>
          </p:txBody>
        </p:sp>
        <p:sp>
          <p:nvSpPr>
            <p:cNvPr id="167" name="Google Shape;167;p4"/>
            <p:cNvSpPr/>
            <p:nvPr/>
          </p:nvSpPr>
          <p:spPr>
            <a:xfrm>
              <a:off x="1593000" y="2322568"/>
              <a:ext cx="690000" cy="642300"/>
            </a:xfrm>
            <a:prstGeom prst="rect">
              <a:avLst/>
            </a:prstGeom>
            <a:solidFill>
              <a:srgbClr val="0D5CDF"/>
            </a:solidFill>
            <a:ln>
              <a:noFill/>
            </a:ln>
            <a:effectLst>
              <a:outerShdw blurRad="103012" rotWithShape="0" algn="bl" dir="2700000" dist="41205">
                <a:srgbClr val="000000">
                  <a:alpha val="17000"/>
                </a:srgbClr>
              </a:outerShdw>
            </a:effectLst>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68" name="Google Shape;168;p4"/>
            <p:cNvSpPr/>
            <p:nvPr/>
          </p:nvSpPr>
          <p:spPr>
            <a:xfrm>
              <a:off x="1593000" y="2322575"/>
              <a:ext cx="690000" cy="6426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ctr">
                <a:spcBef>
                  <a:spcPts val="0"/>
                </a:spcBef>
                <a:spcAft>
                  <a:spcPts val="0"/>
                </a:spcAft>
                <a:buNone/>
              </a:pPr>
              <a:r>
                <a:rPr lang="en-US" sz="3785">
                  <a:solidFill>
                    <a:srgbClr val="FFFFFF"/>
                  </a:solidFill>
                  <a:latin typeface="Roboto Thin"/>
                  <a:ea typeface="Roboto Thin"/>
                  <a:cs typeface="Roboto Thin"/>
                  <a:sym typeface="Roboto Thin"/>
                </a:rPr>
                <a:t>01</a:t>
              </a:r>
              <a:endParaRPr sz="3785">
                <a:solidFill>
                  <a:srgbClr val="FFFFFF"/>
                </a:solidFill>
                <a:latin typeface="Roboto Thin"/>
                <a:ea typeface="Roboto Thin"/>
                <a:cs typeface="Roboto Thin"/>
                <a:sym typeface="Roboto Thin"/>
              </a:endParaRPr>
            </a:p>
          </p:txBody>
        </p:sp>
        <p:sp>
          <p:nvSpPr>
            <p:cNvPr id="169" name="Google Shape;169;p4"/>
            <p:cNvSpPr/>
            <p:nvPr/>
          </p:nvSpPr>
          <p:spPr>
            <a:xfrm>
              <a:off x="4387850" y="2323750"/>
              <a:ext cx="2971200" cy="642300"/>
            </a:xfrm>
            <a:prstGeom prst="rect">
              <a:avLst/>
            </a:prstGeom>
            <a:noFill/>
            <a:ln>
              <a:noFill/>
            </a:ln>
          </p:spPr>
          <p:txBody>
            <a:bodyPr anchorCtr="0" anchor="ctr" bIns="131825" lIns="131825" spcFirstLastPara="1" rIns="131825" wrap="square" tIns="131825">
              <a:noAutofit/>
            </a:bodyPr>
            <a:lstStyle/>
            <a:p>
              <a:pPr indent="-430579" lvl="0" marL="659274" rtl="0" algn="l">
                <a:lnSpc>
                  <a:spcPct val="115000"/>
                </a:lnSpc>
                <a:spcBef>
                  <a:spcPts val="0"/>
                </a:spcBef>
                <a:spcAft>
                  <a:spcPts val="0"/>
                </a:spcAft>
                <a:buClr>
                  <a:srgbClr val="1B786F"/>
                </a:buClr>
                <a:buSzPts val="1590"/>
                <a:buFont typeface="Calibri"/>
                <a:buChar char="●"/>
              </a:pPr>
              <a:r>
                <a:rPr lang="en-US" sz="1589">
                  <a:solidFill>
                    <a:srgbClr val="1B786F"/>
                  </a:solidFill>
                  <a:latin typeface="Calibri"/>
                  <a:ea typeface="Calibri"/>
                  <a:cs typeface="Calibri"/>
                  <a:sym typeface="Calibri"/>
                </a:rPr>
                <a:t>Annual population estimates based on births, deaths, and migration. </a:t>
              </a:r>
              <a:endParaRPr sz="1589">
                <a:solidFill>
                  <a:srgbClr val="1B786F"/>
                </a:solidFill>
                <a:latin typeface="Calibri"/>
                <a:ea typeface="Calibri"/>
                <a:cs typeface="Calibri"/>
                <a:sym typeface="Calibri"/>
              </a:endParaRPr>
            </a:p>
          </p:txBody>
        </p:sp>
      </p:grpSp>
      <p:grpSp>
        <p:nvGrpSpPr>
          <p:cNvPr id="170" name="Google Shape;170;p4"/>
          <p:cNvGrpSpPr/>
          <p:nvPr/>
        </p:nvGrpSpPr>
        <p:grpSpPr>
          <a:xfrm>
            <a:off x="1578030" y="4376443"/>
            <a:ext cx="8590804" cy="927863"/>
            <a:chOff x="1593000" y="2322568"/>
            <a:chExt cx="5957975" cy="643500"/>
          </a:xfrm>
        </p:grpSpPr>
        <p:sp>
          <p:nvSpPr>
            <p:cNvPr id="171" name="Google Shape;171;p4"/>
            <p:cNvSpPr/>
            <p:nvPr/>
          </p:nvSpPr>
          <p:spPr>
            <a:xfrm>
              <a:off x="3728375" y="2322568"/>
              <a:ext cx="3822600" cy="643500"/>
            </a:xfrm>
            <a:prstGeom prst="rect">
              <a:avLst/>
            </a:prstGeom>
            <a:solidFill>
              <a:srgbClr val="EEEEEE"/>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72" name="Google Shape;172;p4"/>
            <p:cNvSpPr/>
            <p:nvPr/>
          </p:nvSpPr>
          <p:spPr>
            <a:xfrm flipH="1">
              <a:off x="2283025" y="2322575"/>
              <a:ext cx="1844400" cy="6426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73" name="Google Shape;173;p4"/>
            <p:cNvSpPr/>
            <p:nvPr/>
          </p:nvSpPr>
          <p:spPr>
            <a:xfrm rot="-5400000">
              <a:off x="3501574" y="1934671"/>
              <a:ext cx="643356" cy="1419149"/>
            </a:xfrm>
            <a:prstGeom prst="flowChartOffpageConnector">
              <a:avLst/>
            </a:prstGeom>
            <a:solidFill>
              <a:srgbClr val="1B786F"/>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74" name="Google Shape;174;p4"/>
            <p:cNvSpPr/>
            <p:nvPr/>
          </p:nvSpPr>
          <p:spPr>
            <a:xfrm>
              <a:off x="2342625" y="2399951"/>
              <a:ext cx="1940700" cy="4959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l">
                <a:lnSpc>
                  <a:spcPct val="115000"/>
                </a:lnSpc>
                <a:spcBef>
                  <a:spcPts val="0"/>
                </a:spcBef>
                <a:spcAft>
                  <a:spcPts val="0"/>
                </a:spcAft>
                <a:buNone/>
              </a:pPr>
              <a:r>
                <a:rPr lang="en-US" sz="1605">
                  <a:solidFill>
                    <a:srgbClr val="FFFFFF"/>
                  </a:solidFill>
                  <a:latin typeface="Calibri"/>
                  <a:ea typeface="Calibri"/>
                  <a:cs typeface="Calibri"/>
                  <a:sym typeface="Calibri"/>
                </a:rPr>
                <a:t>Energy Demand, Forecast, Generation &amp; Interchange</a:t>
              </a:r>
              <a:endParaRPr sz="1605">
                <a:solidFill>
                  <a:srgbClr val="FFFFFF"/>
                </a:solidFill>
                <a:latin typeface="Calibri"/>
                <a:ea typeface="Calibri"/>
                <a:cs typeface="Calibri"/>
                <a:sym typeface="Calibri"/>
              </a:endParaRPr>
            </a:p>
            <a:p>
              <a:pPr indent="0" lvl="0" marL="0" rtl="0" algn="l">
                <a:lnSpc>
                  <a:spcPct val="115000"/>
                </a:lnSpc>
                <a:spcBef>
                  <a:spcPts val="0"/>
                </a:spcBef>
                <a:spcAft>
                  <a:spcPts val="0"/>
                </a:spcAft>
                <a:buNone/>
              </a:pPr>
              <a:r>
                <a:rPr i="1" lang="en-US" sz="1389" u="sng">
                  <a:solidFill>
                    <a:schemeClr val="lt1"/>
                  </a:solidFill>
                  <a:latin typeface="Calibri"/>
                  <a:ea typeface="Calibri"/>
                  <a:cs typeface="Calibri"/>
                  <a:sym typeface="Calibri"/>
                  <a:hlinkClick r:id="rId6">
                    <a:extLst>
                      <a:ext uri="{A12FA001-AC4F-418D-AE19-62706E023703}">
                        <ahyp:hlinkClr val="tx"/>
                      </a:ext>
                    </a:extLst>
                  </a:hlinkClick>
                </a:rPr>
                <a:t>eia.gov</a:t>
              </a:r>
              <a:endParaRPr i="1" sz="1389">
                <a:solidFill>
                  <a:schemeClr val="lt1"/>
                </a:solidFill>
                <a:latin typeface="Calibri"/>
                <a:ea typeface="Calibri"/>
                <a:cs typeface="Calibri"/>
                <a:sym typeface="Calibri"/>
              </a:endParaRPr>
            </a:p>
          </p:txBody>
        </p:sp>
        <p:sp>
          <p:nvSpPr>
            <p:cNvPr id="175" name="Google Shape;175;p4"/>
            <p:cNvSpPr/>
            <p:nvPr/>
          </p:nvSpPr>
          <p:spPr>
            <a:xfrm>
              <a:off x="1593000" y="2322568"/>
              <a:ext cx="690000" cy="642300"/>
            </a:xfrm>
            <a:prstGeom prst="rect">
              <a:avLst/>
            </a:prstGeom>
            <a:solidFill>
              <a:srgbClr val="0D5CDF"/>
            </a:solidFill>
            <a:ln>
              <a:noFill/>
            </a:ln>
            <a:effectLst>
              <a:outerShdw blurRad="103012" rotWithShape="0" algn="bl" dir="2700000" dist="41205">
                <a:srgbClr val="000000">
                  <a:alpha val="17000"/>
                </a:srgbClr>
              </a:outerShdw>
            </a:effectLst>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76" name="Google Shape;176;p4"/>
            <p:cNvSpPr/>
            <p:nvPr/>
          </p:nvSpPr>
          <p:spPr>
            <a:xfrm>
              <a:off x="1593000" y="2322575"/>
              <a:ext cx="690000" cy="6426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ctr">
                <a:spcBef>
                  <a:spcPts val="0"/>
                </a:spcBef>
                <a:spcAft>
                  <a:spcPts val="0"/>
                </a:spcAft>
                <a:buNone/>
              </a:pPr>
              <a:r>
                <a:rPr lang="en-US" sz="3785">
                  <a:solidFill>
                    <a:srgbClr val="FFFFFF"/>
                  </a:solidFill>
                  <a:latin typeface="Roboto Thin"/>
                  <a:ea typeface="Roboto Thin"/>
                  <a:cs typeface="Roboto Thin"/>
                  <a:sym typeface="Roboto Thin"/>
                </a:rPr>
                <a:t>04</a:t>
              </a:r>
              <a:endParaRPr sz="3785">
                <a:solidFill>
                  <a:srgbClr val="FFFFFF"/>
                </a:solidFill>
                <a:latin typeface="Roboto Thin"/>
                <a:ea typeface="Roboto Thin"/>
                <a:cs typeface="Roboto Thin"/>
                <a:sym typeface="Roboto Thin"/>
              </a:endParaRPr>
            </a:p>
          </p:txBody>
        </p:sp>
        <p:sp>
          <p:nvSpPr>
            <p:cNvPr id="177" name="Google Shape;177;p4"/>
            <p:cNvSpPr/>
            <p:nvPr/>
          </p:nvSpPr>
          <p:spPr>
            <a:xfrm>
              <a:off x="4387850" y="2323750"/>
              <a:ext cx="2971200" cy="642300"/>
            </a:xfrm>
            <a:prstGeom prst="rect">
              <a:avLst/>
            </a:prstGeom>
            <a:noFill/>
            <a:ln>
              <a:noFill/>
            </a:ln>
          </p:spPr>
          <p:txBody>
            <a:bodyPr anchorCtr="0" anchor="ctr" bIns="131825" lIns="131825" spcFirstLastPara="1" rIns="131825" wrap="square" tIns="131825">
              <a:noAutofit/>
            </a:bodyPr>
            <a:lstStyle/>
            <a:p>
              <a:pPr indent="-430579" lvl="0" marL="659274" rtl="0" algn="l">
                <a:spcBef>
                  <a:spcPts val="0"/>
                </a:spcBef>
                <a:spcAft>
                  <a:spcPts val="0"/>
                </a:spcAft>
                <a:buClr>
                  <a:srgbClr val="1B786F"/>
                </a:buClr>
                <a:buSzPts val="1590"/>
                <a:buFont typeface="Calibri"/>
                <a:buChar char="●"/>
              </a:pPr>
              <a:r>
                <a:rPr lang="en-US" sz="1589">
                  <a:solidFill>
                    <a:srgbClr val="1B786F"/>
                  </a:solidFill>
                  <a:latin typeface="Calibri"/>
                  <a:ea typeface="Calibri"/>
                  <a:cs typeface="Calibri"/>
                  <a:sym typeface="Calibri"/>
                </a:rPr>
                <a:t>Provides actual demand (D), demand forecast (DF), net generation (NG), and interchange (TI)</a:t>
              </a:r>
              <a:endParaRPr sz="1589">
                <a:solidFill>
                  <a:srgbClr val="1B786F"/>
                </a:solidFill>
                <a:latin typeface="Calibri"/>
                <a:ea typeface="Calibri"/>
                <a:cs typeface="Calibri"/>
                <a:sym typeface="Calibri"/>
              </a:endParaRPr>
            </a:p>
            <a:p>
              <a:pPr indent="0" lvl="0" marL="659274" rtl="0" algn="l">
                <a:lnSpc>
                  <a:spcPct val="115000"/>
                </a:lnSpc>
                <a:spcBef>
                  <a:spcPts val="0"/>
                </a:spcBef>
                <a:spcAft>
                  <a:spcPts val="0"/>
                </a:spcAft>
                <a:buNone/>
              </a:pPr>
              <a:r>
                <a:t/>
              </a:r>
              <a:endParaRPr sz="1189">
                <a:solidFill>
                  <a:srgbClr val="1B786F"/>
                </a:solidFill>
                <a:latin typeface="Roboto Mono"/>
                <a:ea typeface="Roboto Mono"/>
                <a:cs typeface="Roboto Mono"/>
                <a:sym typeface="Roboto Mono"/>
              </a:endParaRPr>
            </a:p>
          </p:txBody>
        </p:sp>
      </p:grpSp>
      <p:grpSp>
        <p:nvGrpSpPr>
          <p:cNvPr id="178" name="Google Shape;178;p4"/>
          <p:cNvGrpSpPr/>
          <p:nvPr/>
        </p:nvGrpSpPr>
        <p:grpSpPr>
          <a:xfrm>
            <a:off x="1578030" y="3519835"/>
            <a:ext cx="8590804" cy="927863"/>
            <a:chOff x="1593000" y="2322568"/>
            <a:chExt cx="5957975" cy="643500"/>
          </a:xfrm>
        </p:grpSpPr>
        <p:sp>
          <p:nvSpPr>
            <p:cNvPr id="179" name="Google Shape;179;p4"/>
            <p:cNvSpPr/>
            <p:nvPr/>
          </p:nvSpPr>
          <p:spPr>
            <a:xfrm>
              <a:off x="3728375" y="2322568"/>
              <a:ext cx="3822600" cy="643500"/>
            </a:xfrm>
            <a:prstGeom prst="rect">
              <a:avLst/>
            </a:prstGeom>
            <a:solidFill>
              <a:srgbClr val="EEEEEE"/>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80" name="Google Shape;180;p4"/>
            <p:cNvSpPr/>
            <p:nvPr/>
          </p:nvSpPr>
          <p:spPr>
            <a:xfrm flipH="1">
              <a:off x="2283025" y="2322575"/>
              <a:ext cx="1844400" cy="6426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81" name="Google Shape;181;p4"/>
            <p:cNvSpPr/>
            <p:nvPr/>
          </p:nvSpPr>
          <p:spPr>
            <a:xfrm rot="-5400000">
              <a:off x="3501574" y="1934671"/>
              <a:ext cx="643356" cy="1419149"/>
            </a:xfrm>
            <a:prstGeom prst="flowChartOffpageConnector">
              <a:avLst/>
            </a:prstGeom>
            <a:solidFill>
              <a:srgbClr val="1B786F"/>
            </a:solidFill>
            <a:ln>
              <a:noFill/>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82" name="Google Shape;182;p4"/>
            <p:cNvSpPr/>
            <p:nvPr/>
          </p:nvSpPr>
          <p:spPr>
            <a:xfrm>
              <a:off x="2342625" y="2399951"/>
              <a:ext cx="1940700" cy="4959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l">
                <a:lnSpc>
                  <a:spcPct val="115000"/>
                </a:lnSpc>
                <a:spcBef>
                  <a:spcPts val="0"/>
                </a:spcBef>
                <a:spcAft>
                  <a:spcPts val="0"/>
                </a:spcAft>
                <a:buClr>
                  <a:schemeClr val="dk1"/>
                </a:buClr>
                <a:buSzPts val="1190"/>
                <a:buFont typeface="Arial"/>
                <a:buNone/>
              </a:pPr>
              <a:r>
                <a:rPr lang="en-US" sz="1805">
                  <a:solidFill>
                    <a:schemeClr val="lt1"/>
                  </a:solidFill>
                  <a:latin typeface="Calibri"/>
                  <a:ea typeface="Calibri"/>
                  <a:cs typeface="Calibri"/>
                  <a:sym typeface="Calibri"/>
                </a:rPr>
                <a:t>Weather Forecasts</a:t>
              </a:r>
              <a:endParaRPr sz="1805">
                <a:solidFill>
                  <a:schemeClr val="lt1"/>
                </a:solidFill>
                <a:latin typeface="Calibri"/>
                <a:ea typeface="Calibri"/>
                <a:cs typeface="Calibri"/>
                <a:sym typeface="Calibri"/>
              </a:endParaRPr>
            </a:p>
            <a:p>
              <a:pPr indent="0" lvl="0" marL="0" rtl="0" algn="l">
                <a:lnSpc>
                  <a:spcPct val="115000"/>
                </a:lnSpc>
                <a:spcBef>
                  <a:spcPts val="0"/>
                </a:spcBef>
                <a:spcAft>
                  <a:spcPts val="0"/>
                </a:spcAft>
                <a:buNone/>
              </a:pPr>
              <a:r>
                <a:rPr i="1" lang="en-US" sz="1589" u="sng">
                  <a:solidFill>
                    <a:schemeClr val="lt1"/>
                  </a:solidFill>
                  <a:latin typeface="Calibri"/>
                  <a:ea typeface="Calibri"/>
                  <a:cs typeface="Calibri"/>
                  <a:sym typeface="Calibri"/>
                  <a:hlinkClick r:id="rId7">
                    <a:extLst>
                      <a:ext uri="{A12FA001-AC4F-418D-AE19-62706E023703}">
                        <ahyp:hlinkClr val="tx"/>
                      </a:ext>
                    </a:extLst>
                  </a:hlinkClick>
                </a:rPr>
                <a:t>weather.gov</a:t>
              </a:r>
              <a:endParaRPr i="1" sz="1589">
                <a:solidFill>
                  <a:schemeClr val="lt1"/>
                </a:solidFill>
                <a:latin typeface="Calibri"/>
                <a:ea typeface="Calibri"/>
                <a:cs typeface="Calibri"/>
                <a:sym typeface="Calibri"/>
              </a:endParaRPr>
            </a:p>
          </p:txBody>
        </p:sp>
        <p:sp>
          <p:nvSpPr>
            <p:cNvPr id="183" name="Google Shape;183;p4"/>
            <p:cNvSpPr/>
            <p:nvPr/>
          </p:nvSpPr>
          <p:spPr>
            <a:xfrm>
              <a:off x="1593000" y="2322568"/>
              <a:ext cx="690000" cy="642300"/>
            </a:xfrm>
            <a:prstGeom prst="rect">
              <a:avLst/>
            </a:prstGeom>
            <a:solidFill>
              <a:srgbClr val="0D5CDF"/>
            </a:solidFill>
            <a:ln>
              <a:noFill/>
            </a:ln>
            <a:effectLst>
              <a:outerShdw blurRad="103012" rotWithShape="0" algn="bl" dir="2700000" dist="41205">
                <a:srgbClr val="000000">
                  <a:alpha val="17000"/>
                </a:srgbClr>
              </a:outerShdw>
            </a:effectLst>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184" name="Google Shape;184;p4"/>
            <p:cNvSpPr/>
            <p:nvPr/>
          </p:nvSpPr>
          <p:spPr>
            <a:xfrm>
              <a:off x="1593000" y="2322575"/>
              <a:ext cx="690000" cy="642600"/>
            </a:xfrm>
            <a:prstGeom prst="rect">
              <a:avLst/>
            </a:prstGeom>
            <a:solidFill>
              <a:srgbClr val="1B786F"/>
            </a:solidFill>
            <a:ln>
              <a:noFill/>
            </a:ln>
          </p:spPr>
          <p:txBody>
            <a:bodyPr anchorCtr="0" anchor="ctr" bIns="131825" lIns="131825" spcFirstLastPara="1" rIns="131825" wrap="square" tIns="131825">
              <a:noAutofit/>
            </a:bodyPr>
            <a:lstStyle/>
            <a:p>
              <a:pPr indent="0" lvl="0" marL="0" rtl="0" algn="ctr">
                <a:spcBef>
                  <a:spcPts val="0"/>
                </a:spcBef>
                <a:spcAft>
                  <a:spcPts val="0"/>
                </a:spcAft>
                <a:buNone/>
              </a:pPr>
              <a:r>
                <a:rPr lang="en-US" sz="3785">
                  <a:solidFill>
                    <a:srgbClr val="FFFFFF"/>
                  </a:solidFill>
                  <a:latin typeface="Roboto Thin"/>
                  <a:ea typeface="Roboto Thin"/>
                  <a:cs typeface="Roboto Thin"/>
                  <a:sym typeface="Roboto Thin"/>
                </a:rPr>
                <a:t>03</a:t>
              </a:r>
              <a:endParaRPr sz="3785">
                <a:solidFill>
                  <a:srgbClr val="FFFFFF"/>
                </a:solidFill>
                <a:latin typeface="Roboto Thin"/>
                <a:ea typeface="Roboto Thin"/>
                <a:cs typeface="Roboto Thin"/>
                <a:sym typeface="Roboto Thin"/>
              </a:endParaRPr>
            </a:p>
          </p:txBody>
        </p:sp>
        <p:sp>
          <p:nvSpPr>
            <p:cNvPr id="185" name="Google Shape;185;p4"/>
            <p:cNvSpPr/>
            <p:nvPr/>
          </p:nvSpPr>
          <p:spPr>
            <a:xfrm>
              <a:off x="4387850" y="2323750"/>
              <a:ext cx="2971200" cy="642300"/>
            </a:xfrm>
            <a:prstGeom prst="rect">
              <a:avLst/>
            </a:prstGeom>
            <a:noFill/>
            <a:ln>
              <a:noFill/>
            </a:ln>
          </p:spPr>
          <p:txBody>
            <a:bodyPr anchorCtr="0" anchor="ctr" bIns="131825" lIns="131825" spcFirstLastPara="1" rIns="131825" wrap="square" tIns="131825">
              <a:noAutofit/>
            </a:bodyPr>
            <a:lstStyle/>
            <a:p>
              <a:pPr indent="-430579" lvl="0" marL="659274" rtl="0" algn="l">
                <a:spcBef>
                  <a:spcPts val="0"/>
                </a:spcBef>
                <a:spcAft>
                  <a:spcPts val="0"/>
                </a:spcAft>
                <a:buClr>
                  <a:srgbClr val="1B786F"/>
                </a:buClr>
                <a:buSzPts val="1590"/>
                <a:buFont typeface="Calibri"/>
                <a:buChar char="●"/>
              </a:pPr>
              <a:r>
                <a:rPr lang="en-US" sz="1589">
                  <a:solidFill>
                    <a:srgbClr val="1B786F"/>
                  </a:solidFill>
                  <a:latin typeface="Calibri"/>
                  <a:ea typeface="Calibri"/>
                  <a:cs typeface="Calibri"/>
                  <a:sym typeface="Calibri"/>
                </a:rPr>
                <a:t>Hourly &amp; 12-hr forecasts: temperature, precipitation, wind speed, humidity &amp; severe weather alerts</a:t>
              </a:r>
              <a:endParaRPr sz="1589">
                <a:solidFill>
                  <a:srgbClr val="1B786F"/>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Approach to Acquiring the Data </a:t>
            </a:r>
            <a:endParaRPr/>
          </a:p>
        </p:txBody>
      </p:sp>
      <p:grpSp>
        <p:nvGrpSpPr>
          <p:cNvPr id="191" name="Google Shape;191;p5"/>
          <p:cNvGrpSpPr/>
          <p:nvPr/>
        </p:nvGrpSpPr>
        <p:grpSpPr>
          <a:xfrm>
            <a:off x="2448542" y="4106907"/>
            <a:ext cx="3135257" cy="2055336"/>
            <a:chOff x="2068480" y="3080258"/>
            <a:chExt cx="2351502" cy="1541541"/>
          </a:xfrm>
        </p:grpSpPr>
        <p:sp>
          <p:nvSpPr>
            <p:cNvPr id="192" name="Google Shape;192;p5"/>
            <p:cNvSpPr/>
            <p:nvPr/>
          </p:nvSpPr>
          <p:spPr>
            <a:xfrm>
              <a:off x="2437290" y="3080271"/>
              <a:ext cx="1617600" cy="133500"/>
            </a:xfrm>
            <a:prstGeom prst="rect">
              <a:avLst/>
            </a:prstGeom>
            <a:solidFill>
              <a:srgbClr val="00A89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 name="Google Shape;193;p5"/>
            <p:cNvSpPr txBox="1"/>
            <p:nvPr/>
          </p:nvSpPr>
          <p:spPr>
            <a:xfrm>
              <a:off x="2140881" y="3677998"/>
              <a:ext cx="2279100" cy="943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000">
                  <a:latin typeface="Calibri"/>
                  <a:ea typeface="Calibri"/>
                  <a:cs typeface="Calibri"/>
                  <a:sym typeface="Calibri"/>
                </a:rPr>
                <a:t>Gazetteer Coordinates</a:t>
              </a:r>
              <a:endParaRPr b="1" sz="20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sz="1800">
                  <a:latin typeface="Calibri"/>
                  <a:ea typeface="Calibri"/>
                  <a:cs typeface="Calibri"/>
                  <a:sym typeface="Calibri"/>
                </a:rPr>
                <a:t>Precise county centroid </a:t>
              </a:r>
              <a:r>
                <a:rPr lang="en-US" sz="1800">
                  <a:latin typeface="Calibri"/>
                  <a:ea typeface="Calibri"/>
                  <a:cs typeface="Calibri"/>
                  <a:sym typeface="Calibri"/>
                </a:rPr>
                <a:t>coordinates</a:t>
              </a:r>
              <a:r>
                <a:rPr lang="en-US" sz="1800">
                  <a:latin typeface="Calibri"/>
                  <a:ea typeface="Calibri"/>
                  <a:cs typeface="Calibri"/>
                  <a:sym typeface="Calibri"/>
                </a:rPr>
                <a:t> for location based queries. </a:t>
              </a:r>
              <a:endParaRPr sz="1800">
                <a:latin typeface="Calibri"/>
                <a:ea typeface="Calibri"/>
                <a:cs typeface="Calibri"/>
                <a:sym typeface="Calibri"/>
              </a:endParaRPr>
            </a:p>
            <a:p>
              <a:pPr indent="0" lvl="0" marL="0" rtl="0" algn="l">
                <a:spcBef>
                  <a:spcPts val="2100"/>
                </a:spcBef>
                <a:spcAft>
                  <a:spcPts val="2100"/>
                </a:spcAft>
                <a:buNone/>
              </a:pPr>
              <a:r>
                <a:t/>
              </a:r>
              <a:endParaRPr b="1">
                <a:latin typeface="Calibri"/>
                <a:ea typeface="Calibri"/>
                <a:cs typeface="Calibri"/>
                <a:sym typeface="Calibri"/>
              </a:endParaRPr>
            </a:p>
          </p:txBody>
        </p:sp>
        <p:sp>
          <p:nvSpPr>
            <p:cNvPr id="194" name="Google Shape;194;p5"/>
            <p:cNvSpPr txBox="1"/>
            <p:nvPr/>
          </p:nvSpPr>
          <p:spPr>
            <a:xfrm>
              <a:off x="2068480" y="3399676"/>
              <a:ext cx="745800" cy="3714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2100"/>
                </a:spcAft>
                <a:buNone/>
              </a:pPr>
              <a:r>
                <a:rPr b="1" lang="en-US" sz="1700">
                  <a:latin typeface="Calibri"/>
                  <a:ea typeface="Calibri"/>
                  <a:cs typeface="Calibri"/>
                  <a:sym typeface="Calibri"/>
                </a:rPr>
                <a:t>2</a:t>
              </a:r>
              <a:endParaRPr b="1" sz="1700">
                <a:latin typeface="Calibri"/>
                <a:ea typeface="Calibri"/>
                <a:cs typeface="Calibri"/>
                <a:sym typeface="Calibri"/>
              </a:endParaRPr>
            </a:p>
          </p:txBody>
        </p:sp>
        <p:grpSp>
          <p:nvGrpSpPr>
            <p:cNvPr id="195" name="Google Shape;195;p5"/>
            <p:cNvGrpSpPr/>
            <p:nvPr/>
          </p:nvGrpSpPr>
          <p:grpSpPr>
            <a:xfrm rot="10800000">
              <a:off x="2395183" y="3080258"/>
              <a:ext cx="92400" cy="411825"/>
              <a:chOff x="2070100" y="2563700"/>
              <a:chExt cx="92400" cy="411825"/>
            </a:xfrm>
          </p:grpSpPr>
          <p:cxnSp>
            <p:nvCxnSpPr>
              <p:cNvPr id="196" name="Google Shape;196;p5"/>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97" name="Google Shape;197;p5"/>
              <p:cNvSpPr/>
              <p:nvPr/>
            </p:nvSpPr>
            <p:spPr>
              <a:xfrm>
                <a:off x="2070100" y="2563700"/>
                <a:ext cx="92400" cy="92400"/>
              </a:xfrm>
              <a:prstGeom prst="ellipse">
                <a:avLst/>
              </a:prstGeom>
              <a:solidFill>
                <a:srgbClr val="0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198" name="Google Shape;198;p5"/>
          <p:cNvSpPr/>
          <p:nvPr/>
        </p:nvSpPr>
        <p:spPr>
          <a:xfrm>
            <a:off x="5096884" y="4106905"/>
            <a:ext cx="2516400" cy="177900"/>
          </a:xfrm>
          <a:prstGeom prst="rect">
            <a:avLst/>
          </a:prstGeom>
          <a:solidFill>
            <a:srgbClr val="1B78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99" name="Google Shape;199;p5"/>
          <p:cNvGrpSpPr/>
          <p:nvPr/>
        </p:nvGrpSpPr>
        <p:grpSpPr>
          <a:xfrm>
            <a:off x="5015380" y="3734367"/>
            <a:ext cx="151518" cy="549086"/>
            <a:chOff x="845575" y="2563700"/>
            <a:chExt cx="92400" cy="411825"/>
          </a:xfrm>
        </p:grpSpPr>
        <p:cxnSp>
          <p:nvCxnSpPr>
            <p:cNvPr id="200" name="Google Shape;200;p5"/>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201" name="Google Shape;201;p5"/>
            <p:cNvSpPr/>
            <p:nvPr/>
          </p:nvSpPr>
          <p:spPr>
            <a:xfrm>
              <a:off x="845575" y="2563700"/>
              <a:ext cx="92400" cy="92400"/>
            </a:xfrm>
            <a:prstGeom prst="ellipse">
              <a:avLst/>
            </a:prstGeom>
            <a:solidFill>
              <a:srgbClr val="0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02" name="Google Shape;202;p5"/>
          <p:cNvSpPr txBox="1"/>
          <p:nvPr/>
        </p:nvSpPr>
        <p:spPr>
          <a:xfrm>
            <a:off x="4523189" y="3378588"/>
            <a:ext cx="1135889" cy="495188"/>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2100"/>
              </a:spcAft>
              <a:buNone/>
            </a:pPr>
            <a:r>
              <a:rPr b="1" lang="en-US" sz="1700">
                <a:latin typeface="Calibri"/>
                <a:ea typeface="Calibri"/>
                <a:cs typeface="Calibri"/>
                <a:sym typeface="Calibri"/>
              </a:rPr>
              <a:t>3</a:t>
            </a:r>
            <a:endParaRPr b="1" sz="1700">
              <a:latin typeface="Calibri"/>
              <a:ea typeface="Calibri"/>
              <a:cs typeface="Calibri"/>
              <a:sym typeface="Calibri"/>
            </a:endParaRPr>
          </a:p>
        </p:txBody>
      </p:sp>
      <p:sp>
        <p:nvSpPr>
          <p:cNvPr id="203" name="Google Shape;203;p5"/>
          <p:cNvSpPr txBox="1"/>
          <p:nvPr/>
        </p:nvSpPr>
        <p:spPr>
          <a:xfrm>
            <a:off x="4523203" y="1843063"/>
            <a:ext cx="2921700" cy="1258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000">
                <a:latin typeface="Calibri"/>
                <a:ea typeface="Calibri"/>
                <a:cs typeface="Calibri"/>
                <a:sym typeface="Calibri"/>
              </a:rPr>
              <a:t>NWS Forecast</a:t>
            </a:r>
            <a:endParaRPr b="1" sz="2000">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2100"/>
              </a:spcAft>
              <a:buNone/>
            </a:pPr>
            <a:r>
              <a:rPr lang="en-US" sz="1700">
                <a:latin typeface="Calibri"/>
                <a:ea typeface="Calibri"/>
                <a:cs typeface="Calibri"/>
                <a:sym typeface="Calibri"/>
              </a:rPr>
              <a:t>Real time weather forecasts retrieved per county using coordinates.</a:t>
            </a:r>
            <a:endParaRPr b="1" sz="1700">
              <a:latin typeface="Calibri"/>
              <a:ea typeface="Calibri"/>
              <a:cs typeface="Calibri"/>
              <a:sym typeface="Calibri"/>
            </a:endParaRPr>
          </a:p>
        </p:txBody>
      </p:sp>
      <p:grpSp>
        <p:nvGrpSpPr>
          <p:cNvPr id="204" name="Google Shape;204;p5"/>
          <p:cNvGrpSpPr/>
          <p:nvPr/>
        </p:nvGrpSpPr>
        <p:grpSpPr>
          <a:xfrm>
            <a:off x="6528885" y="4106907"/>
            <a:ext cx="3390813" cy="2055336"/>
            <a:chOff x="5128814" y="3080258"/>
            <a:chExt cx="2543174" cy="1541541"/>
          </a:xfrm>
        </p:grpSpPr>
        <p:sp>
          <p:nvSpPr>
            <p:cNvPr id="205" name="Google Shape;205;p5"/>
            <p:cNvSpPr/>
            <p:nvPr/>
          </p:nvSpPr>
          <p:spPr>
            <a:xfrm>
              <a:off x="5506276" y="3080265"/>
              <a:ext cx="1534500" cy="133500"/>
            </a:xfrm>
            <a:prstGeom prst="rect">
              <a:avLst/>
            </a:prstGeom>
            <a:solidFill>
              <a:srgbClr val="00A89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206" name="Google Shape;206;p5"/>
            <p:cNvGrpSpPr/>
            <p:nvPr/>
          </p:nvGrpSpPr>
          <p:grpSpPr>
            <a:xfrm rot="10800000">
              <a:off x="5455515" y="3080258"/>
              <a:ext cx="92400" cy="411825"/>
              <a:chOff x="2070100" y="2563700"/>
              <a:chExt cx="92400" cy="411825"/>
            </a:xfrm>
          </p:grpSpPr>
          <p:cxnSp>
            <p:nvCxnSpPr>
              <p:cNvPr id="207" name="Google Shape;207;p5"/>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208" name="Google Shape;208;p5"/>
              <p:cNvSpPr/>
              <p:nvPr/>
            </p:nvSpPr>
            <p:spPr>
              <a:xfrm>
                <a:off x="2070100" y="2563700"/>
                <a:ext cx="92400" cy="92400"/>
              </a:xfrm>
              <a:prstGeom prst="ellipse">
                <a:avLst/>
              </a:prstGeom>
              <a:solidFill>
                <a:srgbClr val="0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09" name="Google Shape;209;p5"/>
            <p:cNvSpPr txBox="1"/>
            <p:nvPr/>
          </p:nvSpPr>
          <p:spPr>
            <a:xfrm>
              <a:off x="5128814" y="3439661"/>
              <a:ext cx="745800" cy="3714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2100"/>
                </a:spcAft>
                <a:buNone/>
              </a:pPr>
              <a:r>
                <a:rPr b="1" lang="en-US" sz="1700">
                  <a:latin typeface="Calibri"/>
                  <a:ea typeface="Calibri"/>
                  <a:cs typeface="Calibri"/>
                  <a:sym typeface="Calibri"/>
                </a:rPr>
                <a:t>4</a:t>
              </a:r>
              <a:endParaRPr b="1" sz="1700">
                <a:latin typeface="Calibri"/>
                <a:ea typeface="Calibri"/>
                <a:cs typeface="Calibri"/>
                <a:sym typeface="Calibri"/>
              </a:endParaRPr>
            </a:p>
          </p:txBody>
        </p:sp>
        <p:sp>
          <p:nvSpPr>
            <p:cNvPr id="210" name="Google Shape;210;p5"/>
            <p:cNvSpPr txBox="1"/>
            <p:nvPr/>
          </p:nvSpPr>
          <p:spPr>
            <a:xfrm>
              <a:off x="5382688" y="3677998"/>
              <a:ext cx="2289300" cy="943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000">
                  <a:latin typeface="Calibri"/>
                  <a:ea typeface="Calibri"/>
                  <a:cs typeface="Calibri"/>
                  <a:sym typeface="Calibri"/>
                </a:rPr>
                <a:t>Historical Data </a:t>
              </a:r>
              <a:endParaRPr b="1" sz="2000">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2100"/>
                </a:spcAft>
                <a:buNone/>
              </a:pPr>
              <a:r>
                <a:rPr lang="en-US" sz="1800">
                  <a:latin typeface="Calibri"/>
                  <a:ea typeface="Calibri"/>
                  <a:cs typeface="Calibri"/>
                  <a:sym typeface="Calibri"/>
                </a:rPr>
                <a:t>Historical Weather Data </a:t>
              </a:r>
              <a:r>
                <a:rPr lang="en-US" sz="1800">
                  <a:latin typeface="Calibri"/>
                  <a:ea typeface="Calibri"/>
                  <a:cs typeface="Calibri"/>
                  <a:sym typeface="Calibri"/>
                </a:rPr>
                <a:t>Retrieval for each county</a:t>
              </a:r>
              <a:r>
                <a:rPr lang="en-US" sz="1800">
                  <a:latin typeface="Calibri"/>
                  <a:ea typeface="Calibri"/>
                  <a:cs typeface="Calibri"/>
                  <a:sym typeface="Calibri"/>
                </a:rPr>
                <a:t> over period of time.</a:t>
              </a:r>
              <a:endParaRPr b="1" sz="1800">
                <a:latin typeface="Calibri"/>
                <a:ea typeface="Calibri"/>
                <a:cs typeface="Calibri"/>
                <a:sym typeface="Calibri"/>
              </a:endParaRPr>
            </a:p>
          </p:txBody>
        </p:sp>
      </p:grpSp>
      <p:grpSp>
        <p:nvGrpSpPr>
          <p:cNvPr id="211" name="Google Shape;211;p5"/>
          <p:cNvGrpSpPr/>
          <p:nvPr/>
        </p:nvGrpSpPr>
        <p:grpSpPr>
          <a:xfrm>
            <a:off x="8581035" y="1844538"/>
            <a:ext cx="3304608" cy="2440376"/>
            <a:chOff x="6667965" y="1383438"/>
            <a:chExt cx="2478518" cy="1830328"/>
          </a:xfrm>
        </p:grpSpPr>
        <p:sp>
          <p:nvSpPr>
            <p:cNvPr id="212" name="Google Shape;212;p5"/>
            <p:cNvSpPr/>
            <p:nvPr/>
          </p:nvSpPr>
          <p:spPr>
            <a:xfrm>
              <a:off x="7040783" y="3080265"/>
              <a:ext cx="2105700" cy="133500"/>
            </a:xfrm>
            <a:prstGeom prst="rect">
              <a:avLst/>
            </a:prstGeom>
            <a:solidFill>
              <a:srgbClr val="1B78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213" name="Google Shape;213;p5"/>
            <p:cNvGrpSpPr/>
            <p:nvPr/>
          </p:nvGrpSpPr>
          <p:grpSpPr>
            <a:xfrm>
              <a:off x="6994658" y="2800855"/>
              <a:ext cx="92400" cy="411825"/>
              <a:chOff x="845575" y="2563700"/>
              <a:chExt cx="92400" cy="411825"/>
            </a:xfrm>
          </p:grpSpPr>
          <p:cxnSp>
            <p:nvCxnSpPr>
              <p:cNvPr id="214" name="Google Shape;214;p5"/>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215" name="Google Shape;215;p5"/>
              <p:cNvSpPr/>
              <p:nvPr/>
            </p:nvSpPr>
            <p:spPr>
              <a:xfrm>
                <a:off x="845575" y="2563700"/>
                <a:ext cx="92400" cy="92400"/>
              </a:xfrm>
              <a:prstGeom prst="ellipse">
                <a:avLst/>
              </a:prstGeom>
              <a:solidFill>
                <a:srgbClr val="0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16" name="Google Shape;216;p5"/>
            <p:cNvSpPr txBox="1"/>
            <p:nvPr/>
          </p:nvSpPr>
          <p:spPr>
            <a:xfrm>
              <a:off x="6667965" y="2532570"/>
              <a:ext cx="745800" cy="3714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2100"/>
                </a:spcAft>
                <a:buNone/>
              </a:pPr>
              <a:r>
                <a:rPr b="1" lang="en-US" sz="1700">
                  <a:latin typeface="Calibri"/>
                  <a:ea typeface="Calibri"/>
                  <a:cs typeface="Calibri"/>
                  <a:sym typeface="Calibri"/>
                </a:rPr>
                <a:t>5</a:t>
              </a:r>
              <a:endParaRPr b="1" sz="1700">
                <a:latin typeface="Calibri"/>
                <a:ea typeface="Calibri"/>
                <a:cs typeface="Calibri"/>
                <a:sym typeface="Calibri"/>
              </a:endParaRPr>
            </a:p>
          </p:txBody>
        </p:sp>
        <p:sp>
          <p:nvSpPr>
            <p:cNvPr id="217" name="Google Shape;217;p5"/>
            <p:cNvSpPr txBox="1"/>
            <p:nvPr/>
          </p:nvSpPr>
          <p:spPr>
            <a:xfrm>
              <a:off x="6994666" y="1383438"/>
              <a:ext cx="2016000" cy="941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000">
                  <a:latin typeface="Calibri"/>
                  <a:ea typeface="Calibri"/>
                  <a:cs typeface="Calibri"/>
                  <a:sym typeface="Calibri"/>
                </a:rPr>
                <a:t>EIA Energy Data </a:t>
              </a:r>
              <a:endParaRPr b="1" sz="2000">
                <a:latin typeface="Calibri"/>
                <a:ea typeface="Calibri"/>
                <a:cs typeface="Calibri"/>
                <a:sym typeface="Calibri"/>
              </a:endParaRPr>
            </a:p>
            <a:p>
              <a:pPr indent="0" lvl="0" marL="0" rtl="0" algn="l">
                <a:spcBef>
                  <a:spcPts val="0"/>
                </a:spcBef>
                <a:spcAft>
                  <a:spcPts val="0"/>
                </a:spcAft>
                <a:buNone/>
              </a:pPr>
              <a:r>
                <a:t/>
              </a:r>
              <a:endParaRPr b="1" sz="1800">
                <a:latin typeface="Calibri"/>
                <a:ea typeface="Calibri"/>
                <a:cs typeface="Calibri"/>
                <a:sym typeface="Calibri"/>
              </a:endParaRPr>
            </a:p>
            <a:p>
              <a:pPr indent="0" lvl="0" marL="0" rtl="0" algn="l">
                <a:spcBef>
                  <a:spcPts val="0"/>
                </a:spcBef>
                <a:spcAft>
                  <a:spcPts val="2100"/>
                </a:spcAft>
                <a:buNone/>
              </a:pPr>
              <a:r>
                <a:rPr lang="en-US" sz="1700">
                  <a:latin typeface="Calibri"/>
                  <a:ea typeface="Calibri"/>
                  <a:cs typeface="Calibri"/>
                  <a:sym typeface="Calibri"/>
                </a:rPr>
                <a:t>Hourly demand, forecasts, generation aligned to weather data by region</a:t>
              </a:r>
              <a:endParaRPr b="1" sz="1700">
                <a:latin typeface="Calibri"/>
                <a:ea typeface="Calibri"/>
                <a:cs typeface="Calibri"/>
                <a:sym typeface="Calibri"/>
              </a:endParaRPr>
            </a:p>
          </p:txBody>
        </p:sp>
      </p:grpSp>
      <p:grpSp>
        <p:nvGrpSpPr>
          <p:cNvPr id="218" name="Google Shape;218;p5"/>
          <p:cNvGrpSpPr/>
          <p:nvPr/>
        </p:nvGrpSpPr>
        <p:grpSpPr>
          <a:xfrm>
            <a:off x="306374" y="1905475"/>
            <a:ext cx="3675348" cy="2379438"/>
            <a:chOff x="461814" y="1429142"/>
            <a:chExt cx="2756580" cy="1784623"/>
          </a:xfrm>
        </p:grpSpPr>
        <p:sp>
          <p:nvSpPr>
            <p:cNvPr id="219" name="Google Shape;219;p5"/>
            <p:cNvSpPr/>
            <p:nvPr/>
          </p:nvSpPr>
          <p:spPr>
            <a:xfrm>
              <a:off x="902781" y="3080265"/>
              <a:ext cx="1534500" cy="133500"/>
            </a:xfrm>
            <a:prstGeom prst="rect">
              <a:avLst/>
            </a:prstGeom>
            <a:solidFill>
              <a:srgbClr val="1B78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0" name="Google Shape;220;p5"/>
            <p:cNvSpPr txBox="1"/>
            <p:nvPr/>
          </p:nvSpPr>
          <p:spPr>
            <a:xfrm>
              <a:off x="461814" y="2534015"/>
              <a:ext cx="871200" cy="3714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2100"/>
                </a:spcAft>
                <a:buNone/>
              </a:pPr>
              <a:r>
                <a:rPr b="1" lang="en-US" sz="1700">
                  <a:latin typeface="Calibri"/>
                  <a:ea typeface="Calibri"/>
                  <a:cs typeface="Calibri"/>
                  <a:sym typeface="Calibri"/>
                </a:rPr>
                <a:t>1</a:t>
              </a:r>
              <a:endParaRPr b="1" sz="1700">
                <a:latin typeface="Calibri"/>
                <a:ea typeface="Calibri"/>
                <a:cs typeface="Calibri"/>
                <a:sym typeface="Calibri"/>
              </a:endParaRPr>
            </a:p>
          </p:txBody>
        </p:sp>
        <p:sp>
          <p:nvSpPr>
            <p:cNvPr id="221" name="Google Shape;221;p5"/>
            <p:cNvSpPr txBox="1"/>
            <p:nvPr/>
          </p:nvSpPr>
          <p:spPr>
            <a:xfrm>
              <a:off x="860693" y="1429142"/>
              <a:ext cx="2357700" cy="943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000">
                  <a:latin typeface="Calibri"/>
                  <a:ea typeface="Calibri"/>
                  <a:cs typeface="Calibri"/>
                  <a:sym typeface="Calibri"/>
                </a:rPr>
                <a:t>Census Population</a:t>
              </a:r>
              <a:endParaRPr b="1" sz="2000">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2100"/>
                </a:spcAft>
                <a:buNone/>
              </a:pPr>
              <a:r>
                <a:rPr lang="en-US" sz="1800">
                  <a:latin typeface="Calibri"/>
                  <a:ea typeface="Calibri"/>
                  <a:cs typeface="Calibri"/>
                  <a:sym typeface="Calibri"/>
                </a:rPr>
                <a:t>County Level population estimates to define geographic area for analysis</a:t>
              </a:r>
              <a:endParaRPr b="1" sz="1800">
                <a:latin typeface="Calibri"/>
                <a:ea typeface="Calibri"/>
                <a:cs typeface="Calibri"/>
                <a:sym typeface="Calibri"/>
              </a:endParaRPr>
            </a:p>
          </p:txBody>
        </p:sp>
        <p:grpSp>
          <p:nvGrpSpPr>
            <p:cNvPr id="222" name="Google Shape;222;p5"/>
            <p:cNvGrpSpPr/>
            <p:nvPr/>
          </p:nvGrpSpPr>
          <p:grpSpPr>
            <a:xfrm>
              <a:off x="851208" y="2800855"/>
              <a:ext cx="92400" cy="411825"/>
              <a:chOff x="845575" y="2563700"/>
              <a:chExt cx="92400" cy="411825"/>
            </a:xfrm>
          </p:grpSpPr>
          <p:cxnSp>
            <p:nvCxnSpPr>
              <p:cNvPr id="223" name="Google Shape;223;p5"/>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224" name="Google Shape;224;p5"/>
              <p:cNvSpPr/>
              <p:nvPr/>
            </p:nvSpPr>
            <p:spPr>
              <a:xfrm>
                <a:off x="845575" y="2563700"/>
                <a:ext cx="92400" cy="92400"/>
              </a:xfrm>
              <a:prstGeom prst="ellipse">
                <a:avLst/>
              </a:prstGeom>
              <a:solidFill>
                <a:srgbClr val="0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225" name="Google Shape;225;p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Distribution Approach </a:t>
            </a:r>
            <a:endParaRPr/>
          </a:p>
        </p:txBody>
      </p:sp>
      <p:sp>
        <p:nvSpPr>
          <p:cNvPr id="231" name="Google Shape;231;p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32" name="Google Shape;232;p7"/>
          <p:cNvSpPr/>
          <p:nvPr/>
        </p:nvSpPr>
        <p:spPr>
          <a:xfrm>
            <a:off x="1017825" y="1841475"/>
            <a:ext cx="10453800" cy="46743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3" name="Google Shape;233;p7"/>
          <p:cNvSpPr txBox="1"/>
          <p:nvPr/>
        </p:nvSpPr>
        <p:spPr>
          <a:xfrm>
            <a:off x="1264325" y="2287425"/>
            <a:ext cx="10279800" cy="3994200"/>
          </a:xfrm>
          <a:prstGeom prst="rect">
            <a:avLst/>
          </a:prstGeom>
          <a:noFill/>
          <a:ln>
            <a:noFill/>
          </a:ln>
        </p:spPr>
        <p:txBody>
          <a:bodyPr anchorCtr="0" anchor="t" bIns="91425" lIns="91425" spcFirstLastPara="1" rIns="91425" wrap="square" tIns="91425">
            <a:spAutoFit/>
          </a:bodyPr>
          <a:lstStyle/>
          <a:p>
            <a:pPr indent="-387350" lvl="0" marL="457200" rtl="0" algn="l">
              <a:lnSpc>
                <a:spcPct val="90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Access to data</a:t>
            </a:r>
            <a:r>
              <a:rPr lang="en-US" sz="2500">
                <a:solidFill>
                  <a:schemeClr val="dk1"/>
                </a:solidFill>
                <a:latin typeface="Calibri"/>
                <a:ea typeface="Calibri"/>
                <a:cs typeface="Calibri"/>
                <a:sym typeface="Calibri"/>
              </a:rPr>
              <a:t> will be distributed as </a:t>
            </a:r>
            <a:r>
              <a:rPr lang="en-US" sz="2500">
                <a:solidFill>
                  <a:srgbClr val="FF0000"/>
                </a:solidFill>
                <a:latin typeface="Calibri"/>
                <a:ea typeface="Calibri"/>
                <a:cs typeface="Calibri"/>
                <a:sym typeface="Calibri"/>
              </a:rPr>
              <a:t>Python code</a:t>
            </a:r>
            <a:r>
              <a:rPr lang="en-US" sz="2500">
                <a:solidFill>
                  <a:schemeClr val="dk1"/>
                </a:solidFill>
                <a:latin typeface="Calibri"/>
                <a:ea typeface="Calibri"/>
                <a:cs typeface="Calibri"/>
                <a:sym typeface="Calibri"/>
              </a:rPr>
              <a:t> and Jupyter notebooks used for data collection and processing.</a:t>
            </a:r>
            <a:endParaRPr sz="2500">
              <a:solidFill>
                <a:schemeClr val="dk1"/>
              </a:solidFill>
              <a:latin typeface="Calibri"/>
              <a:ea typeface="Calibri"/>
              <a:cs typeface="Calibri"/>
              <a:sym typeface="Calibri"/>
            </a:endParaRPr>
          </a:p>
          <a:p>
            <a:pPr indent="0" lvl="0" marL="457200" rtl="0" algn="l">
              <a:lnSpc>
                <a:spcPct val="90000"/>
              </a:lnSpc>
              <a:spcBef>
                <a:spcPts val="0"/>
              </a:spcBef>
              <a:spcAft>
                <a:spcPts val="0"/>
              </a:spcAft>
              <a:buNone/>
            </a:pPr>
            <a:r>
              <a:t/>
            </a:r>
            <a:endParaRPr sz="2500">
              <a:solidFill>
                <a:schemeClr val="dk1"/>
              </a:solidFill>
              <a:latin typeface="Calibri"/>
              <a:ea typeface="Calibri"/>
              <a:cs typeface="Calibri"/>
              <a:sym typeface="Calibri"/>
            </a:endParaRPr>
          </a:p>
          <a:p>
            <a:pPr indent="-387350" lvl="1" marL="914400" rtl="0" algn="l">
              <a:lnSpc>
                <a:spcPct val="90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Excluding census data</a:t>
            </a:r>
            <a:endParaRPr sz="25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2500">
              <a:solidFill>
                <a:schemeClr val="dk1"/>
              </a:solidFill>
              <a:latin typeface="Calibri"/>
              <a:ea typeface="Calibri"/>
              <a:cs typeface="Calibri"/>
              <a:sym typeface="Calibri"/>
            </a:endParaRPr>
          </a:p>
          <a:p>
            <a:pPr indent="-387350" lvl="0" marL="457200" rtl="0" algn="l">
              <a:lnSpc>
                <a:spcPct val="90000"/>
              </a:lnSpc>
              <a:spcBef>
                <a:spcPts val="0"/>
              </a:spcBef>
              <a:spcAft>
                <a:spcPts val="0"/>
              </a:spcAft>
              <a:buSzPts val="2500"/>
              <a:buFont typeface="Calibri"/>
              <a:buChar char="●"/>
            </a:pPr>
            <a:r>
              <a:rPr lang="en-US" sz="2500">
                <a:solidFill>
                  <a:schemeClr val="dk1"/>
                </a:solidFill>
                <a:latin typeface="Calibri"/>
                <a:ea typeface="Calibri"/>
                <a:cs typeface="Calibri"/>
                <a:sym typeface="Calibri"/>
              </a:rPr>
              <a:t>All sources are open access, so </a:t>
            </a:r>
            <a:r>
              <a:rPr lang="en-US" sz="2500">
                <a:solidFill>
                  <a:srgbClr val="FF0000"/>
                </a:solidFill>
                <a:latin typeface="Calibri"/>
                <a:ea typeface="Calibri"/>
                <a:cs typeface="Calibri"/>
                <a:sym typeface="Calibri"/>
              </a:rPr>
              <a:t>no authentication or permissions</a:t>
            </a:r>
            <a:r>
              <a:rPr lang="en-US" sz="2500">
                <a:solidFill>
                  <a:schemeClr val="dk1"/>
                </a:solidFill>
                <a:latin typeface="Calibri"/>
                <a:ea typeface="Calibri"/>
                <a:cs typeface="Calibri"/>
                <a:sym typeface="Calibri"/>
              </a:rPr>
              <a:t> are needed for redistribution</a:t>
            </a:r>
            <a:endParaRPr sz="2500">
              <a:solidFill>
                <a:schemeClr val="dk1"/>
              </a:solidFill>
              <a:latin typeface="Calibri"/>
              <a:ea typeface="Calibri"/>
              <a:cs typeface="Calibri"/>
              <a:sym typeface="Calibri"/>
            </a:endParaRPr>
          </a:p>
          <a:p>
            <a:pPr indent="0" lvl="0" marL="914400" rtl="0" algn="l">
              <a:lnSpc>
                <a:spcPct val="90000"/>
              </a:lnSpc>
              <a:spcBef>
                <a:spcPts val="0"/>
              </a:spcBef>
              <a:spcAft>
                <a:spcPts val="0"/>
              </a:spcAft>
              <a:buNone/>
            </a:pPr>
            <a:r>
              <a:t/>
            </a:r>
            <a:endParaRPr sz="2500">
              <a:solidFill>
                <a:schemeClr val="dk1"/>
              </a:solidFill>
              <a:latin typeface="Calibri"/>
              <a:ea typeface="Calibri"/>
              <a:cs typeface="Calibri"/>
              <a:sym typeface="Calibri"/>
            </a:endParaRPr>
          </a:p>
          <a:p>
            <a:pPr indent="-387350" lvl="0" marL="457200" rtl="0" algn="l">
              <a:lnSpc>
                <a:spcPct val="90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Attribution will be provided per each source's requirements</a:t>
            </a:r>
            <a:endParaRPr sz="2500">
              <a:solidFill>
                <a:schemeClr val="dk1"/>
              </a:solidFill>
              <a:latin typeface="Calibri"/>
              <a:ea typeface="Calibri"/>
              <a:cs typeface="Calibri"/>
              <a:sym typeface="Calibri"/>
            </a:endParaRPr>
          </a:p>
          <a:p>
            <a:pPr indent="0" lvl="0" marL="914400" rtl="0" algn="l">
              <a:lnSpc>
                <a:spcPct val="90000"/>
              </a:lnSpc>
              <a:spcBef>
                <a:spcPts val="0"/>
              </a:spcBef>
              <a:spcAft>
                <a:spcPts val="0"/>
              </a:spcAft>
              <a:buNone/>
            </a:pPr>
            <a:r>
              <a:t/>
            </a:r>
            <a:endParaRPr sz="2500">
              <a:solidFill>
                <a:schemeClr val="dk1"/>
              </a:solidFill>
              <a:latin typeface="Calibri"/>
              <a:ea typeface="Calibri"/>
              <a:cs typeface="Calibri"/>
              <a:sym typeface="Calibri"/>
            </a:endParaRPr>
          </a:p>
          <a:p>
            <a:pPr indent="-387350" lvl="0" marL="457200" rtl="0" algn="l">
              <a:lnSpc>
                <a:spcPct val="90000"/>
              </a:lnSpc>
              <a:spcBef>
                <a:spcPts val="0"/>
              </a:spcBef>
              <a:spcAft>
                <a:spcPts val="0"/>
              </a:spcAft>
              <a:buClr>
                <a:schemeClr val="dk1"/>
              </a:buClr>
              <a:buSzPts val="2500"/>
              <a:buFont typeface="Calibri"/>
              <a:buChar char="●"/>
            </a:pPr>
            <a:r>
              <a:rPr lang="en-US" sz="2500">
                <a:solidFill>
                  <a:schemeClr val="dk1"/>
                </a:solidFill>
                <a:latin typeface="Calibri"/>
                <a:ea typeface="Calibri"/>
                <a:cs typeface="Calibri"/>
                <a:sym typeface="Calibri"/>
              </a:rPr>
              <a:t>Users can freely download, modify, and redistribute the dataset</a:t>
            </a:r>
            <a:endParaRPr sz="2500">
              <a:solidFill>
                <a:schemeClr val="dk1"/>
              </a:solidFill>
              <a:latin typeface="Calibri"/>
              <a:ea typeface="Calibri"/>
              <a:cs typeface="Calibri"/>
              <a:sym typeface="Calibri"/>
            </a:endParaRPr>
          </a:p>
        </p:txBody>
      </p:sp>
      <p:sp>
        <p:nvSpPr>
          <p:cNvPr id="234" name="Google Shape;234;p7"/>
          <p:cNvSpPr/>
          <p:nvPr/>
        </p:nvSpPr>
        <p:spPr>
          <a:xfrm>
            <a:off x="1017825" y="1841475"/>
            <a:ext cx="130500" cy="4674300"/>
          </a:xfrm>
          <a:prstGeom prst="rect">
            <a:avLst/>
          </a:prstGeom>
          <a:solidFill>
            <a:srgbClr val="1B78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Discussion of Access Rights </a:t>
            </a:r>
            <a:endParaRPr/>
          </a:p>
        </p:txBody>
      </p:sp>
      <p:sp>
        <p:nvSpPr>
          <p:cNvPr id="240" name="Google Shape;240;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b="1" lang="en-US" sz="2500">
                <a:solidFill>
                  <a:srgbClr val="1B786F"/>
                </a:solidFill>
              </a:rPr>
              <a:t>National Weather Service (</a:t>
            </a:r>
            <a:r>
              <a:rPr b="1" lang="en-US" sz="2500" u="sng">
                <a:solidFill>
                  <a:srgbClr val="1B786F"/>
                </a:solidFill>
                <a:hlinkClick r:id="rId3">
                  <a:extLst>
                    <a:ext uri="{A12FA001-AC4F-418D-AE19-62706E023703}">
                      <ahyp:hlinkClr val="tx"/>
                    </a:ext>
                  </a:extLst>
                </a:hlinkClick>
              </a:rPr>
              <a:t>weather.gov</a:t>
            </a:r>
            <a:r>
              <a:rPr b="1" lang="en-US" sz="2500">
                <a:solidFill>
                  <a:srgbClr val="1B786F"/>
                </a:solidFill>
              </a:rPr>
              <a:t>):</a:t>
            </a:r>
            <a:endParaRPr b="1" sz="2500">
              <a:solidFill>
                <a:srgbClr val="1B786F"/>
              </a:solidFill>
            </a:endParaRPr>
          </a:p>
          <a:p>
            <a:pPr indent="0" lvl="0" marL="457200" rtl="0" algn="l">
              <a:lnSpc>
                <a:spcPct val="90000"/>
              </a:lnSpc>
              <a:spcBef>
                <a:spcPts val="0"/>
              </a:spcBef>
              <a:spcAft>
                <a:spcPts val="0"/>
              </a:spcAft>
              <a:buNone/>
            </a:pPr>
            <a:r>
              <a:t/>
            </a:r>
            <a:endParaRPr sz="2500"/>
          </a:p>
          <a:p>
            <a:pPr indent="-374650" lvl="0" marL="457200" rtl="0" algn="l">
              <a:lnSpc>
                <a:spcPct val="115000"/>
              </a:lnSpc>
              <a:spcBef>
                <a:spcPts val="0"/>
              </a:spcBef>
              <a:spcAft>
                <a:spcPts val="0"/>
              </a:spcAft>
              <a:buSzPts val="2300"/>
              <a:buChar char="•"/>
            </a:pPr>
            <a:r>
              <a:rPr lang="en-US" sz="2300"/>
              <a:t>Public domain under 17 U.S.C. § 403 - "open data, free to use for any purpose"</a:t>
            </a:r>
            <a:endParaRPr sz="2300"/>
          </a:p>
          <a:p>
            <a:pPr indent="-374650" lvl="0" marL="457200" rtl="0" algn="l">
              <a:lnSpc>
                <a:spcPct val="115000"/>
              </a:lnSpc>
              <a:spcBef>
                <a:spcPts val="0"/>
              </a:spcBef>
              <a:spcAft>
                <a:spcPts val="0"/>
              </a:spcAft>
              <a:buSzPts val="2300"/>
              <a:buChar char="•"/>
            </a:pPr>
            <a:r>
              <a:rPr lang="en-US" sz="2300"/>
              <a:t>No fees charged as a public service of the U.S. Government</a:t>
            </a:r>
            <a:endParaRPr sz="2300"/>
          </a:p>
          <a:p>
            <a:pPr indent="-374650" lvl="0" marL="457200" rtl="0" algn="l">
              <a:lnSpc>
                <a:spcPct val="115000"/>
              </a:lnSpc>
              <a:spcBef>
                <a:spcPts val="0"/>
              </a:spcBef>
              <a:spcAft>
                <a:spcPts val="0"/>
              </a:spcAft>
              <a:buSzPts val="2300"/>
              <a:buChar char="•"/>
            </a:pPr>
            <a:r>
              <a:rPr lang="en-US" sz="2300"/>
              <a:t>No API key required and rate limit not published but generous for typical use</a:t>
            </a:r>
            <a:endParaRPr sz="2300"/>
          </a:p>
          <a:p>
            <a:pPr indent="0" lvl="0" marL="914400" rtl="0" algn="l">
              <a:spcBef>
                <a:spcPts val="0"/>
              </a:spcBef>
              <a:spcAft>
                <a:spcPts val="0"/>
              </a:spcAft>
              <a:buNone/>
            </a:pPr>
            <a:r>
              <a:t/>
            </a:r>
            <a:endParaRPr sz="2500"/>
          </a:p>
          <a:p>
            <a:pPr indent="0" lvl="0" marL="0" rtl="0" algn="l">
              <a:lnSpc>
                <a:spcPct val="115000"/>
              </a:lnSpc>
              <a:spcBef>
                <a:spcPts val="1200"/>
              </a:spcBef>
              <a:spcAft>
                <a:spcPts val="0"/>
              </a:spcAft>
              <a:buClr>
                <a:schemeClr val="dk1"/>
              </a:buClr>
              <a:buSzPts val="1100"/>
              <a:buFont typeface="Arial"/>
              <a:buNone/>
            </a:pPr>
            <a:r>
              <a:rPr b="1" lang="en-US" sz="2500">
                <a:solidFill>
                  <a:srgbClr val="1B786F"/>
                </a:solidFill>
              </a:rPr>
              <a:t>U.S. Energy Information Administration (eia.gov)</a:t>
            </a:r>
            <a:endParaRPr b="1" sz="2500">
              <a:solidFill>
                <a:srgbClr val="1B786F"/>
              </a:solidFill>
            </a:endParaRPr>
          </a:p>
          <a:p>
            <a:pPr indent="-374650" lvl="0" marL="457200" rtl="0" algn="l">
              <a:lnSpc>
                <a:spcPct val="115000"/>
              </a:lnSpc>
              <a:spcBef>
                <a:spcPts val="1200"/>
              </a:spcBef>
              <a:spcAft>
                <a:spcPts val="0"/>
              </a:spcAft>
              <a:buSzPts val="2300"/>
              <a:buChar char="•"/>
            </a:pPr>
            <a:r>
              <a:rPr lang="en-US" sz="2300"/>
              <a:t>Public domain, not subject to copyright protection</a:t>
            </a:r>
            <a:endParaRPr sz="2300"/>
          </a:p>
          <a:p>
            <a:pPr indent="-374650" lvl="0" marL="457200" rtl="0" algn="l">
              <a:lnSpc>
                <a:spcPct val="115000"/>
              </a:lnSpc>
              <a:spcBef>
                <a:spcPts val="0"/>
              </a:spcBef>
              <a:spcAft>
                <a:spcPts val="0"/>
              </a:spcAft>
              <a:buSzPts val="2300"/>
              <a:buChar char="•"/>
            </a:pPr>
            <a:r>
              <a:rPr lang="en-US" sz="2300"/>
              <a:t>Free to use and distribute with source acknowledgment</a:t>
            </a:r>
            <a:endParaRPr sz="2300"/>
          </a:p>
          <a:p>
            <a:pPr indent="-374650" lvl="0" marL="457200" rtl="0" algn="l">
              <a:lnSpc>
                <a:spcPct val="115000"/>
              </a:lnSpc>
              <a:spcBef>
                <a:spcPts val="0"/>
              </a:spcBef>
              <a:spcAft>
                <a:spcPts val="0"/>
              </a:spcAft>
              <a:buSzPts val="2300"/>
              <a:buChar char="•"/>
            </a:pPr>
            <a:r>
              <a:rPr lang="en-US" sz="2300"/>
              <a:t>Free API key required .</a:t>
            </a:r>
            <a:endParaRPr sz="2300"/>
          </a:p>
          <a:p>
            <a:pPr indent="0" lvl="0" marL="0" rtl="0" algn="l">
              <a:lnSpc>
                <a:spcPct val="115000"/>
              </a:lnSpc>
              <a:spcBef>
                <a:spcPts val="1200"/>
              </a:spcBef>
              <a:spcAft>
                <a:spcPts val="0"/>
              </a:spcAft>
              <a:buNone/>
            </a:pPr>
            <a:r>
              <a:t/>
            </a:r>
            <a:endParaRPr sz="2500"/>
          </a:p>
          <a:p>
            <a:pPr indent="0" lvl="0" marL="0" rtl="0" algn="l">
              <a:lnSpc>
                <a:spcPct val="115000"/>
              </a:lnSpc>
              <a:spcBef>
                <a:spcPts val="1200"/>
              </a:spcBef>
              <a:spcAft>
                <a:spcPts val="0"/>
              </a:spcAft>
              <a:buNone/>
            </a:pPr>
            <a:r>
              <a:t/>
            </a:r>
            <a:endParaRPr sz="2500"/>
          </a:p>
          <a:p>
            <a:pPr indent="0" lvl="0" marL="914400" rtl="0" algn="l">
              <a:lnSpc>
                <a:spcPct val="115000"/>
              </a:lnSpc>
              <a:spcBef>
                <a:spcPts val="1200"/>
              </a:spcBef>
              <a:spcAft>
                <a:spcPts val="0"/>
              </a:spcAft>
              <a:buNone/>
            </a:pPr>
            <a:r>
              <a:t/>
            </a:r>
            <a:endParaRPr sz="2500"/>
          </a:p>
          <a:p>
            <a:pPr indent="0" lvl="0" marL="0" rtl="0" algn="l">
              <a:spcBef>
                <a:spcPts val="1200"/>
              </a:spcBef>
              <a:spcAft>
                <a:spcPts val="0"/>
              </a:spcAft>
              <a:buNone/>
            </a:pPr>
            <a:r>
              <a:t/>
            </a:r>
            <a:endParaRPr sz="2500"/>
          </a:p>
          <a:p>
            <a:pPr indent="0" lvl="0" marL="457200" rtl="0" algn="l">
              <a:lnSpc>
                <a:spcPct val="90000"/>
              </a:lnSpc>
              <a:spcBef>
                <a:spcPts val="0"/>
              </a:spcBef>
              <a:spcAft>
                <a:spcPts val="0"/>
              </a:spcAft>
              <a:buNone/>
            </a:pPr>
            <a:r>
              <a:t/>
            </a:r>
            <a:endParaRPr sz="2500"/>
          </a:p>
          <a:p>
            <a:pPr indent="-50800" lvl="0" marL="228600" rtl="0" algn="l">
              <a:lnSpc>
                <a:spcPct val="90000"/>
              </a:lnSpc>
              <a:spcBef>
                <a:spcPts val="0"/>
              </a:spcBef>
              <a:spcAft>
                <a:spcPts val="0"/>
              </a:spcAft>
              <a:buClr>
                <a:schemeClr val="dk1"/>
              </a:buClr>
              <a:buSzPts val="2800"/>
              <a:buNone/>
            </a:pPr>
            <a:r>
              <a:t/>
            </a:r>
            <a:endParaRPr sz="2500"/>
          </a:p>
        </p:txBody>
      </p:sp>
      <p:sp>
        <p:nvSpPr>
          <p:cNvPr id="241" name="Google Shape;241;p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cf3e47c146_1_1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Discussion of Access Rights </a:t>
            </a:r>
            <a:endParaRPr/>
          </a:p>
        </p:txBody>
      </p:sp>
      <p:sp>
        <p:nvSpPr>
          <p:cNvPr id="247" name="Google Shape;247;g3cf3e47c146_1_1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2500">
                <a:solidFill>
                  <a:srgbClr val="1B786F"/>
                </a:solidFill>
              </a:rPr>
              <a:t>U.S. Census Bureau (census.gov)</a:t>
            </a:r>
            <a:endParaRPr b="1" sz="2500">
              <a:solidFill>
                <a:srgbClr val="1B786F"/>
              </a:solidFill>
            </a:endParaRPr>
          </a:p>
          <a:p>
            <a:pPr indent="-374650" lvl="0" marL="457200" rtl="0" algn="l">
              <a:lnSpc>
                <a:spcPct val="115000"/>
              </a:lnSpc>
              <a:spcBef>
                <a:spcPts val="1200"/>
              </a:spcBef>
              <a:spcAft>
                <a:spcPts val="0"/>
              </a:spcAft>
              <a:buSzPts val="2300"/>
              <a:buChar char="•"/>
            </a:pPr>
            <a:r>
              <a:rPr lang="en-US" sz="2300"/>
              <a:t>Federal government data, public domain under Title 17 U.S.C. § 105</a:t>
            </a:r>
            <a:endParaRPr sz="2300"/>
          </a:p>
          <a:p>
            <a:pPr indent="-374650" lvl="0" marL="457200" rtl="0" algn="l">
              <a:lnSpc>
                <a:spcPct val="115000"/>
              </a:lnSpc>
              <a:spcBef>
                <a:spcPts val="0"/>
              </a:spcBef>
              <a:spcAft>
                <a:spcPts val="0"/>
              </a:spcAft>
              <a:buSzPts val="2300"/>
              <a:buChar char="•"/>
            </a:pPr>
            <a:r>
              <a:rPr lang="en-US" sz="2300"/>
              <a:t>API usage requires attribution: "This product uses the Census Bureau Data API but is not endorsed or certified by the Census Bureau"</a:t>
            </a:r>
            <a:endParaRPr sz="2300"/>
          </a:p>
          <a:p>
            <a:pPr indent="0" lvl="0" marL="0" rtl="0" algn="l">
              <a:lnSpc>
                <a:spcPct val="115000"/>
              </a:lnSpc>
              <a:spcBef>
                <a:spcPts val="1200"/>
              </a:spcBef>
              <a:spcAft>
                <a:spcPts val="0"/>
              </a:spcAft>
              <a:buClr>
                <a:schemeClr val="dk1"/>
              </a:buClr>
              <a:buSzPts val="1100"/>
              <a:buFont typeface="Arial"/>
              <a:buNone/>
            </a:pPr>
            <a:r>
              <a:rPr b="1" lang="en-US" sz="2500">
                <a:solidFill>
                  <a:srgbClr val="1B786F"/>
                </a:solidFill>
              </a:rPr>
              <a:t>Open-Meteo (open-meteo.com)</a:t>
            </a:r>
            <a:endParaRPr b="1" sz="2500">
              <a:solidFill>
                <a:srgbClr val="1B786F"/>
              </a:solidFill>
            </a:endParaRPr>
          </a:p>
          <a:p>
            <a:pPr indent="-374650" lvl="0" marL="457200" rtl="0" algn="l">
              <a:lnSpc>
                <a:spcPct val="115000"/>
              </a:lnSpc>
              <a:spcBef>
                <a:spcPts val="1200"/>
              </a:spcBef>
              <a:spcAft>
                <a:spcPts val="0"/>
              </a:spcAft>
              <a:buSzPts val="2300"/>
              <a:buChar char="•"/>
            </a:pPr>
            <a:r>
              <a:rPr lang="en-US" sz="2300"/>
              <a:t>Licensed under Creative Commons Attribution 4.0 International (CC BY 4.0)</a:t>
            </a:r>
            <a:endParaRPr sz="2300"/>
          </a:p>
          <a:p>
            <a:pPr indent="-374650" lvl="0" marL="457200" rtl="0" algn="l">
              <a:lnSpc>
                <a:spcPct val="115000"/>
              </a:lnSpc>
              <a:spcBef>
                <a:spcPts val="0"/>
              </a:spcBef>
              <a:spcAft>
                <a:spcPts val="0"/>
              </a:spcAft>
              <a:buSzPts val="2300"/>
              <a:buChar char="•"/>
            </a:pPr>
            <a:r>
              <a:rPr lang="en-US" sz="2300"/>
              <a:t>Free to share, adapt, and redistribute with attribution required</a:t>
            </a:r>
            <a:endParaRPr sz="2300"/>
          </a:p>
          <a:p>
            <a:pPr indent="-374650" lvl="0" marL="457200" rtl="0" algn="l">
              <a:lnSpc>
                <a:spcPct val="115000"/>
              </a:lnSpc>
              <a:spcBef>
                <a:spcPts val="0"/>
              </a:spcBef>
              <a:spcAft>
                <a:spcPts val="0"/>
              </a:spcAft>
              <a:buSzPts val="2300"/>
              <a:buChar char="•"/>
            </a:pPr>
            <a:r>
              <a:rPr lang="en-US" sz="2300"/>
              <a:t>Free API for non-commercial use (up to 10,000 calls/day)</a:t>
            </a:r>
            <a:endParaRPr sz="2300"/>
          </a:p>
          <a:p>
            <a:pPr indent="0" lvl="0" marL="0" rtl="0" algn="l">
              <a:lnSpc>
                <a:spcPct val="115000"/>
              </a:lnSpc>
              <a:spcBef>
                <a:spcPts val="1200"/>
              </a:spcBef>
              <a:spcAft>
                <a:spcPts val="0"/>
              </a:spcAft>
              <a:buNone/>
            </a:pPr>
            <a:r>
              <a:t/>
            </a:r>
            <a:endParaRPr sz="2500"/>
          </a:p>
          <a:p>
            <a:pPr indent="0" lvl="0" marL="0" rtl="0" algn="l">
              <a:lnSpc>
                <a:spcPct val="115000"/>
              </a:lnSpc>
              <a:spcBef>
                <a:spcPts val="1200"/>
              </a:spcBef>
              <a:spcAft>
                <a:spcPts val="0"/>
              </a:spcAft>
              <a:buNone/>
            </a:pPr>
            <a:r>
              <a:t/>
            </a:r>
            <a:endParaRPr sz="2500"/>
          </a:p>
          <a:p>
            <a:pPr indent="0" lvl="0" marL="0" rtl="0" algn="l">
              <a:lnSpc>
                <a:spcPct val="115000"/>
              </a:lnSpc>
              <a:spcBef>
                <a:spcPts val="1200"/>
              </a:spcBef>
              <a:spcAft>
                <a:spcPts val="0"/>
              </a:spcAft>
              <a:buNone/>
            </a:pPr>
            <a:r>
              <a:t/>
            </a:r>
            <a:endParaRPr sz="2500"/>
          </a:p>
          <a:p>
            <a:pPr indent="0" lvl="0" marL="914400" rtl="0" algn="l">
              <a:lnSpc>
                <a:spcPct val="115000"/>
              </a:lnSpc>
              <a:spcBef>
                <a:spcPts val="1200"/>
              </a:spcBef>
              <a:spcAft>
                <a:spcPts val="0"/>
              </a:spcAft>
              <a:buNone/>
            </a:pPr>
            <a:r>
              <a:t/>
            </a:r>
            <a:endParaRPr sz="2500"/>
          </a:p>
          <a:p>
            <a:pPr indent="0" lvl="0" marL="0" rtl="0" algn="l">
              <a:spcBef>
                <a:spcPts val="1200"/>
              </a:spcBef>
              <a:spcAft>
                <a:spcPts val="0"/>
              </a:spcAft>
              <a:buNone/>
            </a:pPr>
            <a:r>
              <a:t/>
            </a:r>
            <a:endParaRPr sz="2500"/>
          </a:p>
          <a:p>
            <a:pPr indent="0" lvl="0" marL="457200" rtl="0" algn="l">
              <a:lnSpc>
                <a:spcPct val="90000"/>
              </a:lnSpc>
              <a:spcBef>
                <a:spcPts val="0"/>
              </a:spcBef>
              <a:spcAft>
                <a:spcPts val="0"/>
              </a:spcAft>
              <a:buNone/>
            </a:pPr>
            <a:r>
              <a:t/>
            </a:r>
            <a:endParaRPr sz="2500"/>
          </a:p>
          <a:p>
            <a:pPr indent="-50800" lvl="0" marL="228600" rtl="0" algn="l">
              <a:lnSpc>
                <a:spcPct val="90000"/>
              </a:lnSpc>
              <a:spcBef>
                <a:spcPts val="0"/>
              </a:spcBef>
              <a:spcAft>
                <a:spcPts val="0"/>
              </a:spcAft>
              <a:buClr>
                <a:schemeClr val="dk1"/>
              </a:buClr>
              <a:buSzPts val="2800"/>
              <a:buNone/>
            </a:pPr>
            <a:r>
              <a:t/>
            </a:r>
            <a:endParaRPr sz="2500"/>
          </a:p>
        </p:txBody>
      </p:sp>
      <p:sp>
        <p:nvSpPr>
          <p:cNvPr id="248" name="Google Shape;248;g3cf3e47c146_1_1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Issues and Limitations </a:t>
            </a:r>
            <a:endParaRPr/>
          </a:p>
        </p:txBody>
      </p:sp>
      <p:sp>
        <p:nvSpPr>
          <p:cNvPr id="254" name="Google Shape;254;p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2300"/>
              <a:t>Discrepancies Between Historical and Forecasted Weather</a:t>
            </a:r>
            <a:endParaRPr b="1" sz="2300"/>
          </a:p>
          <a:p>
            <a:pPr indent="-342900" lvl="0" marL="457200" rtl="0" algn="l">
              <a:lnSpc>
                <a:spcPct val="115000"/>
              </a:lnSpc>
              <a:spcBef>
                <a:spcPts val="1200"/>
              </a:spcBef>
              <a:spcAft>
                <a:spcPts val="0"/>
              </a:spcAft>
              <a:buSzPts val="1800"/>
              <a:buFont typeface="Calibri"/>
              <a:buChar char="●"/>
            </a:pPr>
            <a:r>
              <a:rPr lang="en-US" sz="2300"/>
              <a:t>Forecast data may not perfectly match observed historical weather conditions.</a:t>
            </a:r>
            <a:endParaRPr sz="2300"/>
          </a:p>
          <a:p>
            <a:pPr indent="-342900" lvl="0" marL="457200" rtl="0" algn="l">
              <a:lnSpc>
                <a:spcPct val="115000"/>
              </a:lnSpc>
              <a:spcBef>
                <a:spcPts val="0"/>
              </a:spcBef>
              <a:spcAft>
                <a:spcPts val="0"/>
              </a:spcAft>
              <a:buSzPts val="1800"/>
              <a:buFont typeface="Calibri"/>
              <a:buChar char="●"/>
            </a:pPr>
            <a:r>
              <a:rPr lang="en-US" sz="2300"/>
              <a:t>Differences occur because forecasting models estimate future atmospheric conditions.</a:t>
            </a:r>
            <a:endParaRPr sz="2300"/>
          </a:p>
          <a:p>
            <a:pPr indent="0" lvl="0" marL="0" rtl="0" algn="l">
              <a:lnSpc>
                <a:spcPct val="115000"/>
              </a:lnSpc>
              <a:spcBef>
                <a:spcPts val="1200"/>
              </a:spcBef>
              <a:spcAft>
                <a:spcPts val="0"/>
              </a:spcAft>
              <a:buClr>
                <a:schemeClr val="dk1"/>
              </a:buClr>
              <a:buSzPts val="1100"/>
              <a:buFont typeface="Arial"/>
              <a:buNone/>
            </a:pPr>
            <a:r>
              <a:rPr b="1" lang="en-US" sz="2300"/>
              <a:t>Different Weather Models</a:t>
            </a:r>
            <a:endParaRPr b="1" sz="2300"/>
          </a:p>
          <a:p>
            <a:pPr indent="-342900" lvl="0" marL="457200" rtl="0" algn="l">
              <a:lnSpc>
                <a:spcPct val="115000"/>
              </a:lnSpc>
              <a:spcBef>
                <a:spcPts val="1200"/>
              </a:spcBef>
              <a:spcAft>
                <a:spcPts val="0"/>
              </a:spcAft>
              <a:buSzPts val="1800"/>
              <a:buFont typeface="Calibri"/>
              <a:buChar char="●"/>
            </a:pPr>
            <a:r>
              <a:rPr lang="en-US" sz="2300"/>
              <a:t>National Weather Service forecasts use models such as GFS, NAM, and HRRR.</a:t>
            </a:r>
            <a:endParaRPr sz="2300"/>
          </a:p>
          <a:p>
            <a:pPr indent="-342900" lvl="0" marL="457200" rtl="0" algn="l">
              <a:lnSpc>
                <a:spcPct val="115000"/>
              </a:lnSpc>
              <a:spcBef>
                <a:spcPts val="0"/>
              </a:spcBef>
              <a:spcAft>
                <a:spcPts val="0"/>
              </a:spcAft>
              <a:buSzPts val="1800"/>
              <a:buFont typeface="Calibri"/>
              <a:buChar char="●"/>
            </a:pPr>
            <a:r>
              <a:rPr lang="en-US" sz="2300"/>
              <a:t>Platforms like Open-Meteo may combine multiple models.</a:t>
            </a:r>
            <a:endParaRPr sz="2300"/>
          </a:p>
          <a:p>
            <a:pPr indent="-342900" lvl="0" marL="457200" rtl="0" algn="l">
              <a:lnSpc>
                <a:spcPct val="115000"/>
              </a:lnSpc>
              <a:spcBef>
                <a:spcPts val="0"/>
              </a:spcBef>
              <a:spcAft>
                <a:spcPts val="0"/>
              </a:spcAft>
              <a:buSzPts val="1800"/>
              <a:buFont typeface="Calibri"/>
              <a:buChar char="●"/>
            </a:pPr>
            <a:r>
              <a:rPr lang="en-US" sz="2300"/>
              <a:t>Different models can produce slightly different predictions.</a:t>
            </a:r>
            <a:br>
              <a:rPr lang="en-US" sz="2300"/>
            </a:br>
            <a:endParaRPr sz="2300"/>
          </a:p>
          <a:p>
            <a:pPr indent="0" lvl="0" marL="457200" rtl="0" algn="l">
              <a:lnSpc>
                <a:spcPct val="90000"/>
              </a:lnSpc>
              <a:spcBef>
                <a:spcPts val="1200"/>
              </a:spcBef>
              <a:spcAft>
                <a:spcPts val="0"/>
              </a:spcAft>
              <a:buNone/>
            </a:pPr>
            <a:r>
              <a:t/>
            </a:r>
            <a:endParaRPr sz="2300"/>
          </a:p>
        </p:txBody>
      </p:sp>
      <p:sp>
        <p:nvSpPr>
          <p:cNvPr id="255" name="Google Shape;255;p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cf834df0a6_0_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Issues and Limitations</a:t>
            </a:r>
            <a:endParaRPr/>
          </a:p>
        </p:txBody>
      </p:sp>
      <p:sp>
        <p:nvSpPr>
          <p:cNvPr id="261" name="Google Shape;261;g3cf834df0a6_0_1"/>
          <p:cNvSpPr txBox="1"/>
          <p:nvPr>
            <p:ph idx="1" type="body"/>
          </p:nvPr>
        </p:nvSpPr>
        <p:spPr>
          <a:xfrm>
            <a:off x="838200" y="1606425"/>
            <a:ext cx="10515600" cy="4678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2300"/>
              <a:t>Measurement and Data Uncertainty</a:t>
            </a:r>
            <a:endParaRPr b="1" sz="2300"/>
          </a:p>
          <a:p>
            <a:pPr indent="-342900" lvl="0" marL="457200" rtl="0" algn="l">
              <a:lnSpc>
                <a:spcPct val="115000"/>
              </a:lnSpc>
              <a:spcBef>
                <a:spcPts val="1200"/>
              </a:spcBef>
              <a:spcAft>
                <a:spcPts val="0"/>
              </a:spcAft>
              <a:buSzPts val="1800"/>
              <a:buFont typeface="Calibri"/>
              <a:buChar char="●"/>
            </a:pPr>
            <a:r>
              <a:rPr lang="en-US" sz="2300"/>
              <a:t>Weather data is collected using instruments such as thermometers, radar, and rain gauges.</a:t>
            </a:r>
            <a:endParaRPr sz="2300"/>
          </a:p>
          <a:p>
            <a:pPr indent="-342900" lvl="0" marL="457200" rtl="0" algn="l">
              <a:lnSpc>
                <a:spcPct val="115000"/>
              </a:lnSpc>
              <a:spcBef>
                <a:spcPts val="0"/>
              </a:spcBef>
              <a:spcAft>
                <a:spcPts val="0"/>
              </a:spcAft>
              <a:buSzPts val="1800"/>
              <a:buFont typeface="Calibri"/>
              <a:buChar char="●"/>
            </a:pPr>
            <a:r>
              <a:rPr lang="en-US" sz="2300"/>
              <a:t>Small measurement errors and reporting delays can introduce uncertainty in the dataset.</a:t>
            </a:r>
            <a:endParaRPr sz="2300"/>
          </a:p>
          <a:p>
            <a:pPr indent="0" lvl="0" marL="0" rtl="0" algn="l">
              <a:lnSpc>
                <a:spcPct val="115000"/>
              </a:lnSpc>
              <a:spcBef>
                <a:spcPts val="1200"/>
              </a:spcBef>
              <a:spcAft>
                <a:spcPts val="0"/>
              </a:spcAft>
              <a:buClr>
                <a:schemeClr val="dk1"/>
              </a:buClr>
              <a:buSzPts val="1100"/>
              <a:buFont typeface="Arial"/>
              <a:buNone/>
            </a:pPr>
            <a:r>
              <a:rPr b="1" lang="en-US" sz="2300"/>
              <a:t>Multi-Source Data Integration</a:t>
            </a:r>
            <a:endParaRPr b="1" sz="2300"/>
          </a:p>
          <a:p>
            <a:pPr indent="-342900" lvl="0" marL="457200" rtl="0" algn="l">
              <a:lnSpc>
                <a:spcPct val="115000"/>
              </a:lnSpc>
              <a:spcBef>
                <a:spcPts val="1200"/>
              </a:spcBef>
              <a:spcAft>
                <a:spcPts val="0"/>
              </a:spcAft>
              <a:buSzPts val="1800"/>
              <a:buFont typeface="Calibri"/>
              <a:buChar char="●"/>
            </a:pPr>
            <a:r>
              <a:rPr lang="en-US" sz="2300"/>
              <a:t>The dataset combines weather, population, and energy data from multiple sources.</a:t>
            </a:r>
            <a:endParaRPr sz="2300"/>
          </a:p>
          <a:p>
            <a:pPr indent="-342900" lvl="0" marL="457200" rtl="0" algn="l">
              <a:lnSpc>
                <a:spcPct val="115000"/>
              </a:lnSpc>
              <a:spcBef>
                <a:spcPts val="0"/>
              </a:spcBef>
              <a:spcAft>
                <a:spcPts val="0"/>
              </a:spcAft>
              <a:buSzPts val="1800"/>
              <a:buFont typeface="Calibri"/>
              <a:buChar char="●"/>
            </a:pPr>
            <a:r>
              <a:rPr lang="en-US" sz="2300"/>
              <a:t>Differences in spatial resolution (county vs region) may create alignment challenges.</a:t>
            </a:r>
            <a:endParaRPr b="1" sz="2300"/>
          </a:p>
        </p:txBody>
      </p:sp>
      <p:sp>
        <p:nvSpPr>
          <p:cNvPr id="262" name="Google Shape;262;g3cf834df0a6_0_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Team and Contributions</a:t>
            </a:r>
            <a:endParaRPr/>
          </a:p>
        </p:txBody>
      </p:sp>
      <p:sp>
        <p:nvSpPr>
          <p:cNvPr id="268" name="Google Shape;268;p1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aphicFrame>
        <p:nvGraphicFramePr>
          <p:cNvPr id="269" name="Google Shape;269;p10"/>
          <p:cNvGraphicFramePr/>
          <p:nvPr/>
        </p:nvGraphicFramePr>
        <p:xfrm>
          <a:off x="838200" y="2078125"/>
          <a:ext cx="3000000" cy="3000000"/>
        </p:xfrm>
        <a:graphic>
          <a:graphicData uri="http://schemas.openxmlformats.org/drawingml/2006/table">
            <a:tbl>
              <a:tblPr>
                <a:noFill/>
                <a:tableStyleId>{4BB1E8DA-6645-4BD3-B925-3926E8FE1284}</a:tableStyleId>
              </a:tblPr>
              <a:tblGrid>
                <a:gridCol w="2628900"/>
                <a:gridCol w="2628900"/>
                <a:gridCol w="2628900"/>
                <a:gridCol w="2628900"/>
              </a:tblGrid>
              <a:tr h="616525">
                <a:tc>
                  <a:txBody>
                    <a:bodyPr/>
                    <a:lstStyle/>
                    <a:p>
                      <a:pPr indent="0" lvl="0" marL="0" rtl="0" algn="ctr">
                        <a:spcBef>
                          <a:spcPts val="0"/>
                        </a:spcBef>
                        <a:spcAft>
                          <a:spcPts val="0"/>
                        </a:spcAft>
                        <a:buNone/>
                      </a:pPr>
                      <a:r>
                        <a:rPr b="1" lang="en-US" sz="2600">
                          <a:solidFill>
                            <a:srgbClr val="1B786F"/>
                          </a:solidFill>
                          <a:latin typeface="Calibri"/>
                          <a:ea typeface="Calibri"/>
                          <a:cs typeface="Calibri"/>
                          <a:sym typeface="Calibri"/>
                        </a:rPr>
                        <a:t>Andy</a:t>
                      </a:r>
                      <a:endParaRPr b="1" sz="2600">
                        <a:solidFill>
                          <a:srgbClr val="1B786F"/>
                        </a:solidFill>
                        <a:latin typeface="Calibri"/>
                        <a:ea typeface="Calibri"/>
                        <a:cs typeface="Calibri"/>
                        <a:sym typeface="Calibri"/>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US" sz="2600">
                          <a:solidFill>
                            <a:srgbClr val="1B786F"/>
                          </a:solidFill>
                          <a:latin typeface="Calibri"/>
                          <a:ea typeface="Calibri"/>
                          <a:cs typeface="Calibri"/>
                          <a:sym typeface="Calibri"/>
                        </a:rPr>
                        <a:t>Shubh</a:t>
                      </a:r>
                      <a:endParaRPr b="1" sz="2600">
                        <a:solidFill>
                          <a:srgbClr val="1B786F"/>
                        </a:solidFill>
                        <a:latin typeface="Calibri"/>
                        <a:ea typeface="Calibri"/>
                        <a:cs typeface="Calibri"/>
                        <a:sym typeface="Calibri"/>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US" sz="2600">
                          <a:solidFill>
                            <a:srgbClr val="1B786F"/>
                          </a:solidFill>
                          <a:latin typeface="Calibri"/>
                          <a:ea typeface="Calibri"/>
                          <a:cs typeface="Calibri"/>
                          <a:sym typeface="Calibri"/>
                        </a:rPr>
                        <a:t>Nayina</a:t>
                      </a:r>
                      <a:endParaRPr b="1" sz="2600">
                        <a:solidFill>
                          <a:srgbClr val="1B786F"/>
                        </a:solidFill>
                        <a:latin typeface="Calibri"/>
                        <a:ea typeface="Calibri"/>
                        <a:cs typeface="Calibri"/>
                        <a:sym typeface="Calibri"/>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US" sz="2600">
                          <a:solidFill>
                            <a:srgbClr val="1B786F"/>
                          </a:solidFill>
                          <a:latin typeface="Calibri"/>
                          <a:ea typeface="Calibri"/>
                          <a:cs typeface="Calibri"/>
                          <a:sym typeface="Calibri"/>
                        </a:rPr>
                        <a:t>Krisi</a:t>
                      </a:r>
                      <a:endParaRPr b="1" sz="2600">
                        <a:solidFill>
                          <a:srgbClr val="1B786F"/>
                        </a:solidFill>
                        <a:latin typeface="Calibri"/>
                        <a:ea typeface="Calibri"/>
                        <a:cs typeface="Calibri"/>
                        <a:sym typeface="Calibri"/>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274275">
                <a:tc>
                  <a:txBody>
                    <a:bodyPr/>
                    <a:lstStyle/>
                    <a:p>
                      <a:pPr indent="-355600" lvl="0" marL="457200" rtl="0" algn="l">
                        <a:spcBef>
                          <a:spcPts val="0"/>
                        </a:spcBef>
                        <a:spcAft>
                          <a:spcPts val="0"/>
                        </a:spcAft>
                        <a:buSzPts val="2000"/>
                        <a:buFont typeface="Calibri"/>
                        <a:buChar char="-"/>
                      </a:pPr>
                      <a:r>
                        <a:rPr lang="en-US" sz="2000">
                          <a:latin typeface="Calibri"/>
                          <a:ea typeface="Calibri"/>
                          <a:cs typeface="Calibri"/>
                          <a:sym typeface="Calibri"/>
                        </a:rPr>
                        <a:t>Collected census, forecasted weather, and demand data</a:t>
                      </a:r>
                      <a:endParaRPr sz="2000">
                        <a:latin typeface="Calibri"/>
                        <a:ea typeface="Calibri"/>
                        <a:cs typeface="Calibri"/>
                        <a:sym typeface="Calibri"/>
                      </a:endParaRPr>
                    </a:p>
                    <a:p>
                      <a:pPr indent="-355600" lvl="0" marL="457200" rtl="0" algn="l">
                        <a:spcBef>
                          <a:spcPts val="0"/>
                        </a:spcBef>
                        <a:spcAft>
                          <a:spcPts val="0"/>
                        </a:spcAft>
                        <a:buSzPts val="2000"/>
                        <a:buFont typeface="Calibri"/>
                        <a:buChar char="-"/>
                      </a:pPr>
                      <a:r>
                        <a:rPr lang="en-US" sz="2000">
                          <a:latin typeface="Calibri"/>
                          <a:ea typeface="Calibri"/>
                          <a:cs typeface="Calibri"/>
                          <a:sym typeface="Calibri"/>
                        </a:rPr>
                        <a:t>Scoped project including goals</a:t>
                      </a:r>
                      <a:endParaRPr sz="2000">
                        <a:latin typeface="Calibri"/>
                        <a:ea typeface="Calibri"/>
                        <a:cs typeface="Calibri"/>
                        <a:sym typeface="Calibri"/>
                      </a:endParaRPr>
                    </a:p>
                    <a:p>
                      <a:pPr indent="-355600" lvl="0" marL="457200" rtl="0" algn="l">
                        <a:spcBef>
                          <a:spcPts val="0"/>
                        </a:spcBef>
                        <a:spcAft>
                          <a:spcPts val="0"/>
                        </a:spcAft>
                        <a:buSzPts val="2000"/>
                        <a:buFont typeface="Calibri"/>
                        <a:buChar char="-"/>
                      </a:pPr>
                      <a:r>
                        <a:rPr lang="en-US" sz="2000">
                          <a:latin typeface="Calibri"/>
                          <a:ea typeface="Calibri"/>
                          <a:cs typeface="Calibri"/>
                          <a:sym typeface="Calibri"/>
                        </a:rPr>
                        <a:t>Managed distribution</a:t>
                      </a:r>
                      <a:endParaRPr sz="20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355600" lvl="0" marL="457200" rtl="0" algn="l">
                        <a:spcBef>
                          <a:spcPts val="0"/>
                        </a:spcBef>
                        <a:spcAft>
                          <a:spcPts val="0"/>
                        </a:spcAft>
                        <a:buSzPts val="2000"/>
                        <a:buFont typeface="Calibri"/>
                        <a:buChar char="-"/>
                      </a:pPr>
                      <a:r>
                        <a:rPr lang="en-US" sz="2000">
                          <a:latin typeface="Calibri"/>
                          <a:ea typeface="Calibri"/>
                          <a:cs typeface="Calibri"/>
                          <a:sym typeface="Calibri"/>
                        </a:rPr>
                        <a:t>Research an weather collection sources</a:t>
                      </a:r>
                      <a:endParaRPr sz="2000">
                        <a:latin typeface="Calibri"/>
                        <a:ea typeface="Calibri"/>
                        <a:cs typeface="Calibri"/>
                        <a:sym typeface="Calibri"/>
                      </a:endParaRPr>
                    </a:p>
                    <a:p>
                      <a:pPr indent="-355600" lvl="0" marL="457200" rtl="0" algn="l">
                        <a:spcBef>
                          <a:spcPts val="0"/>
                        </a:spcBef>
                        <a:spcAft>
                          <a:spcPts val="0"/>
                        </a:spcAft>
                        <a:buSzPts val="2000"/>
                        <a:buFont typeface="Calibri"/>
                        <a:buChar char="-"/>
                      </a:pPr>
                      <a:r>
                        <a:rPr lang="en-US" sz="2000">
                          <a:latin typeface="Calibri"/>
                          <a:ea typeface="Calibri"/>
                          <a:cs typeface="Calibri"/>
                          <a:sym typeface="Calibri"/>
                        </a:rPr>
                        <a:t>Discovered an alternative for historical data collection </a:t>
                      </a:r>
                      <a:endParaRPr sz="20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Identified extreme weather events since 2019, tagged blackouts, documented damages and costs.</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Explored granularity of energy data</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355600" lvl="0" marL="457200" rtl="0" algn="l">
                        <a:spcBef>
                          <a:spcPts val="0"/>
                        </a:spcBef>
                        <a:spcAft>
                          <a:spcPts val="0"/>
                        </a:spcAft>
                        <a:buSzPts val="2000"/>
                        <a:buFont typeface="Calibri"/>
                        <a:buChar char="-"/>
                      </a:pPr>
                      <a:r>
                        <a:rPr lang="en-US" sz="2000">
                          <a:latin typeface="Calibri"/>
                          <a:ea typeface="Calibri"/>
                          <a:cs typeface="Calibri"/>
                          <a:sym typeface="Calibri"/>
                        </a:rPr>
                        <a:t>Analyzed weather measurement accuracy and forecast uncertainty</a:t>
                      </a:r>
                      <a:endParaRPr sz="2000">
                        <a:latin typeface="Calibri"/>
                        <a:ea typeface="Calibri"/>
                        <a:cs typeface="Calibri"/>
                        <a:sym typeface="Calibri"/>
                      </a:endParaRPr>
                    </a:p>
                    <a:p>
                      <a:pPr indent="-355600" lvl="0" marL="457200" rtl="0" algn="l">
                        <a:spcBef>
                          <a:spcPts val="0"/>
                        </a:spcBef>
                        <a:spcAft>
                          <a:spcPts val="0"/>
                        </a:spcAft>
                        <a:buSzPts val="2000"/>
                        <a:buFont typeface="Calibri"/>
                        <a:buChar char="-"/>
                      </a:pPr>
                      <a:r>
                        <a:rPr lang="en-US" sz="2000">
                          <a:latin typeface="Calibri"/>
                          <a:ea typeface="Calibri"/>
                          <a:cs typeface="Calibri"/>
                          <a:sym typeface="Calibri"/>
                        </a:rPr>
                        <a:t>Documented dataset limitations and potential biases</a:t>
                      </a:r>
                      <a:endParaRPr sz="20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2020-11-27T17:46:31Z</dcterms:created>
  <dc:creator>MacLellan,Christopher</dc:creator>
</cp:coreProperties>
</file>